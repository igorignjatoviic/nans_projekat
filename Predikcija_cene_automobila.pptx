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38"/>
  </p:notesMasterIdLst>
  <p:sldIdLst>
    <p:sldId id="256" r:id="rId2"/>
    <p:sldId id="257" r:id="rId3"/>
    <p:sldId id="264" r:id="rId4"/>
    <p:sldId id="259" r:id="rId5"/>
    <p:sldId id="258" r:id="rId6"/>
    <p:sldId id="262" r:id="rId7"/>
    <p:sldId id="268" r:id="rId8"/>
    <p:sldId id="347" r:id="rId9"/>
    <p:sldId id="286" r:id="rId10"/>
    <p:sldId id="348" r:id="rId11"/>
    <p:sldId id="349" r:id="rId12"/>
    <p:sldId id="260" r:id="rId13"/>
    <p:sldId id="350" r:id="rId14"/>
    <p:sldId id="351" r:id="rId15"/>
    <p:sldId id="352" r:id="rId16"/>
    <p:sldId id="263" r:id="rId17"/>
    <p:sldId id="353" r:id="rId18"/>
    <p:sldId id="271" r:id="rId19"/>
    <p:sldId id="285" r:id="rId20"/>
    <p:sldId id="354" r:id="rId21"/>
    <p:sldId id="355" r:id="rId22"/>
    <p:sldId id="356" r:id="rId23"/>
    <p:sldId id="357" r:id="rId24"/>
    <p:sldId id="358" r:id="rId25"/>
    <p:sldId id="267" r:id="rId26"/>
    <p:sldId id="359" r:id="rId27"/>
    <p:sldId id="360" r:id="rId28"/>
    <p:sldId id="361" r:id="rId29"/>
    <p:sldId id="362" r:id="rId30"/>
    <p:sldId id="363" r:id="rId31"/>
    <p:sldId id="364" r:id="rId32"/>
    <p:sldId id="365" r:id="rId33"/>
    <p:sldId id="261" r:id="rId34"/>
    <p:sldId id="316" r:id="rId35"/>
    <p:sldId id="366" r:id="rId36"/>
    <p:sldId id="367" r:id="rId37"/>
  </p:sldIdLst>
  <p:sldSz cx="9144000" cy="5143500" type="screen16x9"/>
  <p:notesSz cx="6858000" cy="9144000"/>
  <p:embeddedFontLst>
    <p:embeddedFont>
      <p:font typeface="Crimson Text" panose="020B0604020202020204" charset="0"/>
      <p:regular r:id="rId39"/>
      <p:bold r:id="rId40"/>
      <p:italic r:id="rId41"/>
      <p:boldItalic r:id="rId42"/>
    </p:embeddedFont>
    <p:embeddedFont>
      <p:font typeface="Lato" panose="020F0502020204030203" pitchFamily="34" charset="0"/>
      <p:regular r:id="rId43"/>
      <p:bold r:id="rId44"/>
      <p:italic r:id="rId45"/>
      <p:boldItalic r:id="rId46"/>
    </p:embeddedFont>
    <p:embeddedFont>
      <p:font typeface="Merriweather" panose="00000500000000000000" pitchFamily="2" charset="0"/>
      <p:regular r:id="rId47"/>
      <p:bold r:id="rId48"/>
      <p:italic r:id="rId49"/>
      <p:boldItalic r:id="rId50"/>
    </p:embeddedFont>
    <p:embeddedFont>
      <p:font typeface="Merriweather Light" panose="00000400000000000000" pitchFamily="2" charset="0"/>
      <p:regular r:id="rId51"/>
      <p:bold r:id="rId52"/>
      <p:italic r:id="rId53"/>
      <p:boldItalic r:id="rId54"/>
    </p:embeddedFont>
    <p:embeddedFont>
      <p:font typeface="Montserrat" panose="00000500000000000000" pitchFamily="2" charset="0"/>
      <p:regular r:id="rId55"/>
      <p:bold r:id="rId56"/>
      <p:italic r:id="rId57"/>
      <p:boldItalic r:id="rId58"/>
    </p:embeddedFont>
    <p:embeddedFont>
      <p:font typeface="Vidaloka" panose="020B0604020202020204" charset="0"/>
      <p:regular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3D7A3E-65F8-455E-8091-C9C1ACF47B48}">
  <a:tblStyle styleId="{083D7A3E-65F8-455E-8091-C9C1ACF47B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07" d="100"/>
          <a:sy n="107"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c7554a04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105aad17dc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105aad17dc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cc7554a049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471080B0-1F21-FD75-4356-EEB3EDBB90EC}"/>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4BA730DB-5DDE-9A47-1329-4C80103864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0B2832CE-515B-B45C-B10E-4E1C9A9FF0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1304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cc7554a049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cc7554a049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F78469A9-6216-7EFF-0BF7-DDF4C09FBBDD}"/>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D3E5EECA-3958-817B-7F53-72EDBCA0D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BE4A5A33-0E0D-B19A-A4BD-88B68132F3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1021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A48F976C-C194-8BEC-B2FD-B2A374854170}"/>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C5CD1DFA-6D75-E6B6-54C7-BAE5FFC787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13916600-CB5D-E89E-43C2-08208F4584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1176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F39C79DB-7ACC-2836-7FE4-2ABDC704D6AC}"/>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AE4362E4-8EF0-CED4-EDBB-D5489617D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22B7D624-6124-21E8-A7BA-6FA175CBD7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3502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7A63CFA6-FC25-C212-4F89-FC7862EAC11E}"/>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E054C3B7-4E95-52D1-16EE-A8F44128E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54688B37-7947-1EA4-6EAF-38D4A3B0A0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371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01CD73E7-9E03-436C-D9EE-AE5C8C2AA2F7}"/>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F011E696-5A04-8458-3EAB-C11D642DAD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CCAADBD0-D59B-2822-8F68-0749EC01EC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300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A6D2D795-6CFC-ABEF-0F43-866C7A6DB1C5}"/>
            </a:ext>
          </a:extLst>
        </p:cNvPr>
        <p:cNvGrpSpPr/>
        <p:nvPr/>
      </p:nvGrpSpPr>
      <p:grpSpPr>
        <a:xfrm>
          <a:off x="0" y="0"/>
          <a:ext cx="0" cy="0"/>
          <a:chOff x="0" y="0"/>
          <a:chExt cx="0" cy="0"/>
        </a:xfrm>
      </p:grpSpPr>
      <p:sp>
        <p:nvSpPr>
          <p:cNvPr id="590" name="Google Shape;590;gcc7554a049_0_369:notes">
            <a:extLst>
              <a:ext uri="{FF2B5EF4-FFF2-40B4-BE49-F238E27FC236}">
                <a16:creationId xmlns:a16="http://schemas.microsoft.com/office/drawing/2014/main" id="{0B8539E9-7A15-EA6B-944F-01914416EB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cc7554a049_0_369:notes">
            <a:extLst>
              <a:ext uri="{FF2B5EF4-FFF2-40B4-BE49-F238E27FC236}">
                <a16:creationId xmlns:a16="http://schemas.microsoft.com/office/drawing/2014/main" id="{A055FD4B-AB12-1515-D852-5F8C79CD02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2901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07a9a8b46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07a9a8b46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07aaa41fe9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07aaa41fe9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18B8BE58-E1C4-A62D-0F45-4F911371D367}"/>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E7395BA7-CA4F-E1EA-6D03-A37D705E6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d8a80d6bc_0_17:notes">
            <a:extLst>
              <a:ext uri="{FF2B5EF4-FFF2-40B4-BE49-F238E27FC236}">
                <a16:creationId xmlns:a16="http://schemas.microsoft.com/office/drawing/2014/main" id="{36DFD634-CE0A-B978-5E61-3BFA125C5F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958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09A9FA8E-92AE-6739-1644-0F7328F8CD70}"/>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816B4AA6-17D5-9873-52E4-2AF1A43868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E07347EA-D971-993F-B5BE-754A778A48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3103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8C005B5D-3418-CD89-908D-394C2A660CFF}"/>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24B3FE10-B0B7-B018-AF9A-768A26CF6B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BB495830-3556-3F4A-722E-58AB548049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7159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DC82CC42-BE9B-6E0C-5F0D-366C7F7FF5A7}"/>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3C82D396-3B23-F0C7-2234-84E0D182A1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67772597-12BD-F41D-4715-B4B0CD05FE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4890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DEBE48E0-6B7C-A952-383D-C1FD0130C0AB}"/>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5CB769DF-B83C-DE08-9A4D-90F71B0A13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93C11B34-549E-2A41-EDB5-1B1F034B36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8151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107a9a8b4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107a9a8b4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a:extLst>
            <a:ext uri="{FF2B5EF4-FFF2-40B4-BE49-F238E27FC236}">
              <a16:creationId xmlns:a16="http://schemas.microsoft.com/office/drawing/2014/main" id="{550B7F78-1080-9553-813D-9DAC8A3FDED0}"/>
            </a:ext>
          </a:extLst>
        </p:cNvPr>
        <p:cNvGrpSpPr/>
        <p:nvPr/>
      </p:nvGrpSpPr>
      <p:grpSpPr>
        <a:xfrm>
          <a:off x="0" y="0"/>
          <a:ext cx="0" cy="0"/>
          <a:chOff x="0" y="0"/>
          <a:chExt cx="0" cy="0"/>
        </a:xfrm>
      </p:grpSpPr>
      <p:sp>
        <p:nvSpPr>
          <p:cNvPr id="556" name="Google Shape;556;g105aad17dc0_0_95:notes">
            <a:extLst>
              <a:ext uri="{FF2B5EF4-FFF2-40B4-BE49-F238E27FC236}">
                <a16:creationId xmlns:a16="http://schemas.microsoft.com/office/drawing/2014/main" id="{78BC75B5-044D-4EBD-69A5-1B8DFD1F7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a:extLst>
              <a:ext uri="{FF2B5EF4-FFF2-40B4-BE49-F238E27FC236}">
                <a16:creationId xmlns:a16="http://schemas.microsoft.com/office/drawing/2014/main" id="{87DA68CE-CD7D-9AEE-FAA9-6B317017C3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96139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461DEEAA-9F53-A6BD-5E43-D89CE47F3A05}"/>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30DC5635-03D8-BEF7-D2D5-D492AE8BA5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65E46075-8CCF-FD19-FB07-62ECB86C57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49796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EE00E1B4-2609-0208-A3DA-06A0D6B94656}"/>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9609653E-223D-59C7-1C87-485028F549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61EF99E9-531C-2222-EE26-8A08556255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984328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D0B60187-48DD-0C7D-E98D-0398D98FC130}"/>
            </a:ext>
          </a:extLst>
        </p:cNvPr>
        <p:cNvGrpSpPr/>
        <p:nvPr/>
      </p:nvGrpSpPr>
      <p:grpSpPr>
        <a:xfrm>
          <a:off x="0" y="0"/>
          <a:ext cx="0" cy="0"/>
          <a:chOff x="0" y="0"/>
          <a:chExt cx="0" cy="0"/>
        </a:xfrm>
      </p:grpSpPr>
      <p:sp>
        <p:nvSpPr>
          <p:cNvPr id="549" name="Google Shape;549;gcd8a80d6bc_0_0:notes">
            <a:extLst>
              <a:ext uri="{FF2B5EF4-FFF2-40B4-BE49-F238E27FC236}">
                <a16:creationId xmlns:a16="http://schemas.microsoft.com/office/drawing/2014/main" id="{6A70A754-3117-7544-91B3-CE72281A0E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a:extLst>
              <a:ext uri="{FF2B5EF4-FFF2-40B4-BE49-F238E27FC236}">
                <a16:creationId xmlns:a16="http://schemas.microsoft.com/office/drawing/2014/main" id="{69530627-CADE-5142-4C32-31CA091536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5562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a:extLst>
            <a:ext uri="{FF2B5EF4-FFF2-40B4-BE49-F238E27FC236}">
              <a16:creationId xmlns:a16="http://schemas.microsoft.com/office/drawing/2014/main" id="{3472719B-4197-51D5-FCA6-FAB27571E7D5}"/>
            </a:ext>
          </a:extLst>
        </p:cNvPr>
        <p:cNvGrpSpPr/>
        <p:nvPr/>
      </p:nvGrpSpPr>
      <p:grpSpPr>
        <a:xfrm>
          <a:off x="0" y="0"/>
          <a:ext cx="0" cy="0"/>
          <a:chOff x="0" y="0"/>
          <a:chExt cx="0" cy="0"/>
        </a:xfrm>
      </p:grpSpPr>
      <p:sp>
        <p:nvSpPr>
          <p:cNvPr id="556" name="Google Shape;556;g105aad17dc0_0_95:notes">
            <a:extLst>
              <a:ext uri="{FF2B5EF4-FFF2-40B4-BE49-F238E27FC236}">
                <a16:creationId xmlns:a16="http://schemas.microsoft.com/office/drawing/2014/main" id="{B72B4166-8785-C95A-46E6-9EC0F2057E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a:extLst>
              <a:ext uri="{FF2B5EF4-FFF2-40B4-BE49-F238E27FC236}">
                <a16:creationId xmlns:a16="http://schemas.microsoft.com/office/drawing/2014/main" id="{0DD75D50-E58B-B23E-5B63-F71B7948DB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2466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a:extLst>
            <a:ext uri="{FF2B5EF4-FFF2-40B4-BE49-F238E27FC236}">
              <a16:creationId xmlns:a16="http://schemas.microsoft.com/office/drawing/2014/main" id="{440C9773-7357-3790-1D9E-F56CE34DA211}"/>
            </a:ext>
          </a:extLst>
        </p:cNvPr>
        <p:cNvGrpSpPr/>
        <p:nvPr/>
      </p:nvGrpSpPr>
      <p:grpSpPr>
        <a:xfrm>
          <a:off x="0" y="0"/>
          <a:ext cx="0" cy="0"/>
          <a:chOff x="0" y="0"/>
          <a:chExt cx="0" cy="0"/>
        </a:xfrm>
      </p:grpSpPr>
      <p:sp>
        <p:nvSpPr>
          <p:cNvPr id="556" name="Google Shape;556;g105aad17dc0_0_95:notes">
            <a:extLst>
              <a:ext uri="{FF2B5EF4-FFF2-40B4-BE49-F238E27FC236}">
                <a16:creationId xmlns:a16="http://schemas.microsoft.com/office/drawing/2014/main" id="{C60D2B9F-4FA8-81FB-62E2-686D61855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a:extLst>
              <a:ext uri="{FF2B5EF4-FFF2-40B4-BE49-F238E27FC236}">
                <a16:creationId xmlns:a16="http://schemas.microsoft.com/office/drawing/2014/main" id="{F5E0E701-55EE-2B56-BDE6-F2B50DCF75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756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a:extLst>
            <a:ext uri="{FF2B5EF4-FFF2-40B4-BE49-F238E27FC236}">
              <a16:creationId xmlns:a16="http://schemas.microsoft.com/office/drawing/2014/main" id="{8F074130-3D8A-CDE4-62B3-C6450589FF85}"/>
            </a:ext>
          </a:extLst>
        </p:cNvPr>
        <p:cNvGrpSpPr/>
        <p:nvPr/>
      </p:nvGrpSpPr>
      <p:grpSpPr>
        <a:xfrm>
          <a:off x="0" y="0"/>
          <a:ext cx="0" cy="0"/>
          <a:chOff x="0" y="0"/>
          <a:chExt cx="0" cy="0"/>
        </a:xfrm>
      </p:grpSpPr>
      <p:sp>
        <p:nvSpPr>
          <p:cNvPr id="556" name="Google Shape;556;g105aad17dc0_0_95:notes">
            <a:extLst>
              <a:ext uri="{FF2B5EF4-FFF2-40B4-BE49-F238E27FC236}">
                <a16:creationId xmlns:a16="http://schemas.microsoft.com/office/drawing/2014/main" id="{F33B8FCF-D3CE-5706-0EB7-D3C0DBB971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a:extLst>
              <a:ext uri="{FF2B5EF4-FFF2-40B4-BE49-F238E27FC236}">
                <a16:creationId xmlns:a16="http://schemas.microsoft.com/office/drawing/2014/main" id="{442B2DE3-2181-4927-AFE1-8CDF51E092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81248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cc7554a049_0_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cc7554a049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a:extLst>
            <a:ext uri="{FF2B5EF4-FFF2-40B4-BE49-F238E27FC236}">
              <a16:creationId xmlns:a16="http://schemas.microsoft.com/office/drawing/2014/main" id="{4627D734-3681-AA3F-E9C7-40D4FB04EE09}"/>
            </a:ext>
          </a:extLst>
        </p:cNvPr>
        <p:cNvGrpSpPr/>
        <p:nvPr/>
      </p:nvGrpSpPr>
      <p:grpSpPr>
        <a:xfrm>
          <a:off x="0" y="0"/>
          <a:ext cx="0" cy="0"/>
          <a:chOff x="0" y="0"/>
          <a:chExt cx="0" cy="0"/>
        </a:xfrm>
      </p:grpSpPr>
      <p:sp>
        <p:nvSpPr>
          <p:cNvPr id="1533" name="Google Shape;1533;gcc7554a049_0_870:notes">
            <a:extLst>
              <a:ext uri="{FF2B5EF4-FFF2-40B4-BE49-F238E27FC236}">
                <a16:creationId xmlns:a16="http://schemas.microsoft.com/office/drawing/2014/main" id="{DA67DEEA-7311-6743-DE39-68321BA589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cc7554a049_0_870:notes">
            <a:extLst>
              <a:ext uri="{FF2B5EF4-FFF2-40B4-BE49-F238E27FC236}">
                <a16:creationId xmlns:a16="http://schemas.microsoft.com/office/drawing/2014/main" id="{AD5C6732-5FD9-7FAA-9B8A-483B3867A0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1575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a:extLst>
            <a:ext uri="{FF2B5EF4-FFF2-40B4-BE49-F238E27FC236}">
              <a16:creationId xmlns:a16="http://schemas.microsoft.com/office/drawing/2014/main" id="{FFFEF0D1-EE6C-90BA-AC2D-F9BE32C20743}"/>
            </a:ext>
          </a:extLst>
        </p:cNvPr>
        <p:cNvGrpSpPr/>
        <p:nvPr/>
      </p:nvGrpSpPr>
      <p:grpSpPr>
        <a:xfrm>
          <a:off x="0" y="0"/>
          <a:ext cx="0" cy="0"/>
          <a:chOff x="0" y="0"/>
          <a:chExt cx="0" cy="0"/>
        </a:xfrm>
      </p:grpSpPr>
      <p:sp>
        <p:nvSpPr>
          <p:cNvPr id="1533" name="Google Shape;1533;gcc7554a049_0_870:notes">
            <a:extLst>
              <a:ext uri="{FF2B5EF4-FFF2-40B4-BE49-F238E27FC236}">
                <a16:creationId xmlns:a16="http://schemas.microsoft.com/office/drawing/2014/main" id="{638B6653-4488-0A07-2545-C2152904B2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cc7554a049_0_870:notes">
            <a:extLst>
              <a:ext uri="{FF2B5EF4-FFF2-40B4-BE49-F238E27FC236}">
                <a16:creationId xmlns:a16="http://schemas.microsoft.com/office/drawing/2014/main" id="{686CA987-FB17-2244-4D05-2FF22F5FFA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7577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SECTION_TITLE_AND_DESCRIPTION_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7" name="Google Shape;137;p18"/>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45550" y="1482825"/>
            <a:ext cx="74529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7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40" name="Google Shape;140;p19"/>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41" name="Google Shape;14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427325" y="2511800"/>
            <a:ext cx="4965600" cy="11133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4" name="Google Shape;154;p21"/>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55" name="Google Shape;155;p21"/>
          <p:cNvSpPr txBox="1">
            <a:spLocks noGrp="1"/>
          </p:cNvSpPr>
          <p:nvPr>
            <p:ph type="subTitle" idx="1"/>
          </p:nvPr>
        </p:nvSpPr>
        <p:spPr>
          <a:xfrm>
            <a:off x="831625" y="3625000"/>
            <a:ext cx="4561200" cy="39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6" name="Google Shape;156;p21"/>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9" name="Google Shape;159;p21"/>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5" name="Google Shape;175;p24"/>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4"/>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7" name="Google Shape;177;p24"/>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8" name="Google Shape;178;p24"/>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9" name="Google Shape;179;p24"/>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80" name="Google Shape;180;p24"/>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1" name="Google Shape;181;p24"/>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82" name="Google Shape;182;p24"/>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83" name="Google Shape;183;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4" name="Google Shape;184;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3" name="Google Shape;223;p30"/>
          <p:cNvSpPr txBox="1">
            <a:spLocks noGrp="1"/>
          </p:cNvSpPr>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24" name="Google Shape;224;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5" name="Google Shape;225;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6" name="Google Shape;226;p3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7" name="Google Shape;227;p3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8" name="Google Shape;228;p3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9" name="Google Shape;229;p3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30"/>
        <p:cNvGrpSpPr/>
        <p:nvPr/>
      </p:nvGrpSpPr>
      <p:grpSpPr>
        <a:xfrm>
          <a:off x="0" y="0"/>
          <a:ext cx="0" cy="0"/>
          <a:chOff x="0" y="0"/>
          <a:chExt cx="0" cy="0"/>
        </a:xfrm>
      </p:grpSpPr>
      <p:sp>
        <p:nvSpPr>
          <p:cNvPr id="231" name="Google Shape;231;p31"/>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2" name="Google Shape;232;p31"/>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3" name="Google Shape;233;p31"/>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4" name="Google Shape;234;p31"/>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5" name="Google Shape;235;p31"/>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7" name="Google Shape;237;p31"/>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8" name="Google Shape;238;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11"/>
        <p:cNvGrpSpPr/>
        <p:nvPr/>
      </p:nvGrpSpPr>
      <p:grpSpPr>
        <a:xfrm>
          <a:off x="0" y="0"/>
          <a:ext cx="0" cy="0"/>
          <a:chOff x="0" y="0"/>
          <a:chExt cx="0" cy="0"/>
        </a:xfrm>
      </p:grpSpPr>
      <p:sp>
        <p:nvSpPr>
          <p:cNvPr id="412" name="Google Shape;412;p46"/>
          <p:cNvSpPr txBox="1">
            <a:spLocks noGrp="1"/>
          </p:cNvSpPr>
          <p:nvPr>
            <p:ph type="subTitle" idx="1"/>
          </p:nvPr>
        </p:nvSpPr>
        <p:spPr>
          <a:xfrm>
            <a:off x="713225" y="1453525"/>
            <a:ext cx="74112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13" name="Google Shape;413;p46"/>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14" name="Google Shape;414;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5" name="Google Shape;415;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6" name="Google Shape;416;p46"/>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7" r:id="rId13"/>
    <p:sldLayoutId id="2147483670" r:id="rId14"/>
    <p:sldLayoutId id="2147483676" r:id="rId15"/>
    <p:sldLayoutId id="2147483677" r:id="rId16"/>
    <p:sldLayoutId id="2147483692" r:id="rId17"/>
    <p:sldLayoutId id="2147483697" r:id="rId18"/>
    <p:sldLayoutId id="2147483698" r:id="rId19"/>
    <p:sldLayoutId id="2147483699" r:id="rId20"/>
    <p:sldLayoutId id="2147483700"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635918"/>
            <a:ext cx="7064100" cy="208597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sr-Latn-RS" sz="4800" dirty="0"/>
              <a:t>Predikcija cene automobila primenom višestruke linearne regresije</a:t>
            </a:r>
            <a:endParaRPr sz="4800" dirty="0"/>
          </a:p>
        </p:txBody>
      </p:sp>
      <p:sp>
        <p:nvSpPr>
          <p:cNvPr id="489" name="Google Shape;489;p60"/>
          <p:cNvSpPr txBox="1">
            <a:spLocks noGrp="1"/>
          </p:cNvSpPr>
          <p:nvPr>
            <p:ph type="subTitle" idx="1"/>
          </p:nvPr>
        </p:nvSpPr>
        <p:spPr>
          <a:xfrm>
            <a:off x="1040000" y="3914775"/>
            <a:ext cx="7064100" cy="75009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sr-Latn-RS" dirty="0">
                <a:solidFill>
                  <a:schemeClr val="dk1"/>
                </a:solidFill>
              </a:rPr>
              <a:t>Igor Ignjatović SV 5/2024</a:t>
            </a:r>
            <a:endParaRPr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4711500" cy="82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sz="4000" dirty="0"/>
              <a:t>Uvod</a:t>
            </a:r>
            <a:endParaRPr sz="4000" dirty="0"/>
          </a:p>
        </p:txBody>
      </p:sp>
      <p:sp>
        <p:nvSpPr>
          <p:cNvPr id="495" name="Google Shape;495;p61"/>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p>
            <a:pPr marL="114300" indent="0">
              <a:buNone/>
            </a:pPr>
            <a:endParaRPr lang="en-US" dirty="0"/>
          </a:p>
          <a:p>
            <a:pPr marL="171450" indent="-171450">
              <a:spcBef>
                <a:spcPts val="1200"/>
              </a:spcBef>
              <a:spcAft>
                <a:spcPts val="1200"/>
              </a:spcAft>
              <a:buFont typeface="Arial" panose="020B0604020202020204" pitchFamily="34" charset="0"/>
              <a:buChar char="•"/>
            </a:pPr>
            <a:r>
              <a:rPr lang="sr-Latn-RS" sz="1300" dirty="0"/>
              <a:t>Definicija problema i cilj problema</a:t>
            </a:r>
          </a:p>
          <a:p>
            <a:pPr marL="171450" indent="-171450">
              <a:spcBef>
                <a:spcPts val="1200"/>
              </a:spcBef>
              <a:spcAft>
                <a:spcPts val="1200"/>
              </a:spcAft>
              <a:buFont typeface="Arial" panose="020B0604020202020204" pitchFamily="34" charset="0"/>
              <a:buChar char="•"/>
            </a:pPr>
            <a:r>
              <a:rPr lang="sr-Latn-RS" sz="1300" dirty="0"/>
              <a:t>Eksplorativna analiza podataka</a:t>
            </a:r>
          </a:p>
          <a:p>
            <a:pPr marL="171450" indent="-171450">
              <a:spcBef>
                <a:spcPts val="1200"/>
              </a:spcBef>
              <a:spcAft>
                <a:spcPts val="1200"/>
              </a:spcAft>
              <a:buFont typeface="Arial" panose="020B0604020202020204" pitchFamily="34" charset="0"/>
              <a:buChar char="•"/>
            </a:pPr>
            <a:r>
              <a:rPr lang="sr-Latn-RS" sz="1300" dirty="0"/>
              <a:t>Analiza i struktura skupa podataka</a:t>
            </a:r>
          </a:p>
          <a:p>
            <a:pPr marL="171450" indent="-171450">
              <a:spcBef>
                <a:spcPts val="1200"/>
              </a:spcBef>
              <a:spcAft>
                <a:spcPts val="1200"/>
              </a:spcAft>
              <a:buFont typeface="Arial" panose="020B0604020202020204" pitchFamily="34" charset="0"/>
              <a:buChar char="•"/>
            </a:pPr>
            <a:r>
              <a:rPr lang="sr-Latn-RS" sz="1300" dirty="0"/>
              <a:t>Priprema podataka za modeliranje</a:t>
            </a:r>
          </a:p>
          <a:p>
            <a:pPr marL="171450" indent="-171450">
              <a:spcBef>
                <a:spcPts val="1200"/>
              </a:spcBef>
              <a:spcAft>
                <a:spcPts val="1200"/>
              </a:spcAft>
              <a:buFont typeface="Arial" panose="020B0604020202020204" pitchFamily="34" charset="0"/>
              <a:buChar char="•"/>
            </a:pPr>
            <a:r>
              <a:rPr lang="sr-Latn-RS" sz="1300" dirty="0"/>
              <a:t>Primena regresionih algoritama</a:t>
            </a:r>
          </a:p>
          <a:p>
            <a:pPr marL="171450" indent="-171450">
              <a:spcBef>
                <a:spcPts val="1200"/>
              </a:spcBef>
              <a:spcAft>
                <a:spcPts val="1200"/>
              </a:spcAft>
              <a:buFont typeface="Arial" panose="020B0604020202020204" pitchFamily="34" charset="0"/>
              <a:buChar char="•"/>
            </a:pPr>
            <a:r>
              <a:rPr lang="sr-Latn-RS" sz="1300" dirty="0"/>
              <a:t>Analiza performansi</a:t>
            </a: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845550" y="1064419"/>
            <a:ext cx="7452900" cy="132873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sz="5400" dirty="0"/>
              <a:t>Definicija i cilj problema</a:t>
            </a:r>
            <a:endParaRPr sz="5400" dirty="0"/>
          </a:p>
        </p:txBody>
      </p:sp>
      <p:sp>
        <p:nvSpPr>
          <p:cNvPr id="566" name="Google Shape;566;p68"/>
          <p:cNvSpPr txBox="1">
            <a:spLocks noGrp="1"/>
          </p:cNvSpPr>
          <p:nvPr>
            <p:ph type="subTitle" idx="1"/>
          </p:nvPr>
        </p:nvSpPr>
        <p:spPr>
          <a:xfrm>
            <a:off x="845551" y="2443165"/>
            <a:ext cx="7452900" cy="132873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U ovom zadatku bavimo se procenom tržišne cene automobila. Cena zavisi od više faktora pa dobijamo potrebu za objektivnim modelom procene vrednosti. Samim tim razvijamo model za predikciju cene, analiziramo uticaj atributa na cenu i poredimo više regresionih modela.</a:t>
            </a:r>
            <a:endParaRPr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8" name="Google Shape;518;p63"/>
          <p:cNvSpPr txBox="1">
            <a:spLocks noGrp="1"/>
          </p:cNvSpPr>
          <p:nvPr>
            <p:ph type="subTitle" idx="1"/>
          </p:nvPr>
        </p:nvSpPr>
        <p:spPr>
          <a:xfrm>
            <a:off x="720000" y="1829921"/>
            <a:ext cx="233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Opis i struktura podataka</a:t>
            </a:r>
            <a:endParaRPr dirty="0"/>
          </a:p>
        </p:txBody>
      </p:sp>
      <p:sp>
        <p:nvSpPr>
          <p:cNvPr id="519" name="Google Shape;519;p63"/>
          <p:cNvSpPr txBox="1">
            <a:spLocks noGrp="1"/>
          </p:cNvSpPr>
          <p:nvPr>
            <p:ph type="subTitle" idx="8"/>
          </p:nvPr>
        </p:nvSpPr>
        <p:spPr>
          <a:xfrm>
            <a:off x="6145800" y="1829921"/>
            <a:ext cx="233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sr-Latn-RS" dirty="0"/>
              <a:t>Detekcija ekstremnih vrednosti</a:t>
            </a:r>
            <a:endParaRPr dirty="0"/>
          </a:p>
        </p:txBody>
      </p:sp>
      <p:sp>
        <p:nvSpPr>
          <p:cNvPr id="520" name="Google Shape;520;p63"/>
          <p:cNvSpPr txBox="1">
            <a:spLocks noGrp="1"/>
          </p:cNvSpPr>
          <p:nvPr>
            <p:ph type="title" idx="4"/>
          </p:nvPr>
        </p:nvSpPr>
        <p:spPr>
          <a:xfrm>
            <a:off x="4166400" y="119220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521" name="Google Shape;521;p63"/>
          <p:cNvSpPr txBox="1">
            <a:spLocks noGrp="1"/>
          </p:cNvSpPr>
          <p:nvPr>
            <p:ph type="title" idx="13"/>
          </p:nvPr>
        </p:nvSpPr>
        <p:spPr>
          <a:xfrm>
            <a:off x="2650801" y="264211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522" name="Google Shape;522;p63"/>
          <p:cNvSpPr txBox="1">
            <a:spLocks noGrp="1"/>
          </p:cNvSpPr>
          <p:nvPr>
            <p:ph type="title" idx="2"/>
          </p:nvPr>
        </p:nvSpPr>
        <p:spPr>
          <a:xfrm>
            <a:off x="1482600" y="119220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524" name="Google Shape;524;p63"/>
          <p:cNvSpPr txBox="1">
            <a:spLocks noGrp="1"/>
          </p:cNvSpPr>
          <p:nvPr>
            <p:ph type="subTitle" idx="5"/>
          </p:nvPr>
        </p:nvSpPr>
        <p:spPr>
          <a:xfrm>
            <a:off x="3403800" y="1829921"/>
            <a:ext cx="233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D</a:t>
            </a:r>
            <a:r>
              <a:rPr lang="sr-Latn-RS" dirty="0"/>
              <a:t>istribucija numeričkih atributa</a:t>
            </a:r>
            <a:endParaRPr dirty="0"/>
          </a:p>
        </p:txBody>
      </p:sp>
      <p:sp>
        <p:nvSpPr>
          <p:cNvPr id="526" name="Google Shape;526;p63"/>
          <p:cNvSpPr txBox="1">
            <a:spLocks noGrp="1"/>
          </p:cNvSpPr>
          <p:nvPr>
            <p:ph type="title" idx="7"/>
          </p:nvPr>
        </p:nvSpPr>
        <p:spPr>
          <a:xfrm>
            <a:off x="6850200" y="119220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528" name="Google Shape;528;p63"/>
          <p:cNvSpPr txBox="1">
            <a:spLocks noGrp="1"/>
          </p:cNvSpPr>
          <p:nvPr>
            <p:ph type="subTitle" idx="14"/>
          </p:nvPr>
        </p:nvSpPr>
        <p:spPr>
          <a:xfrm>
            <a:off x="1888200" y="3324286"/>
            <a:ext cx="233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sr-Latn-RS" dirty="0"/>
              <a:t>Analiza korelacija</a:t>
            </a:r>
            <a:endParaRPr dirty="0"/>
          </a:p>
        </p:txBody>
      </p:sp>
      <p:sp>
        <p:nvSpPr>
          <p:cNvPr id="530" name="Google Shape;530;p63"/>
          <p:cNvSpPr txBox="1">
            <a:spLocks noGrp="1"/>
          </p:cNvSpPr>
          <p:nvPr>
            <p:ph type="title" idx="16"/>
          </p:nvPr>
        </p:nvSpPr>
        <p:spPr>
          <a:xfrm>
            <a:off x="5682001" y="264211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531" name="Google Shape;531;p63"/>
          <p:cNvSpPr txBox="1">
            <a:spLocks noGrp="1"/>
          </p:cNvSpPr>
          <p:nvPr>
            <p:ph type="subTitle" idx="17"/>
          </p:nvPr>
        </p:nvSpPr>
        <p:spPr>
          <a:xfrm>
            <a:off x="4977600" y="3324538"/>
            <a:ext cx="233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sr-Latn-RS" dirty="0"/>
              <a:t>Odnos kategorijskih atributa sa cenom</a:t>
            </a:r>
            <a:endParaRPr dirty="0"/>
          </a:p>
        </p:txBody>
      </p:sp>
      <p:sp>
        <p:nvSpPr>
          <p:cNvPr id="535" name="Google Shape;535;p63"/>
          <p:cNvSpPr txBox="1">
            <a:spLocks noGrp="1"/>
          </p:cNvSpPr>
          <p:nvPr>
            <p:ph type="title" idx="21"/>
          </p:nvPr>
        </p:nvSpPr>
        <p:spPr>
          <a:xfrm>
            <a:off x="720001" y="445025"/>
            <a:ext cx="7766774"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Eksplorativna analiza podataka</a:t>
            </a:r>
            <a:endParaRPr dirty="0"/>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2"/>
          <p:cNvSpPr txBox="1">
            <a:spLocks noGrp="1"/>
          </p:cNvSpPr>
          <p:nvPr>
            <p:ph type="title"/>
          </p:nvPr>
        </p:nvSpPr>
        <p:spPr>
          <a:xfrm>
            <a:off x="713224" y="445024"/>
            <a:ext cx="4866045" cy="6675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Opis i struktura podataka</a:t>
            </a:r>
            <a:endParaRPr dirty="0"/>
          </a:p>
        </p:txBody>
      </p:sp>
      <p:sp>
        <p:nvSpPr>
          <p:cNvPr id="501" name="Google Shape;501;p62"/>
          <p:cNvSpPr txBox="1">
            <a:spLocks noGrp="1"/>
          </p:cNvSpPr>
          <p:nvPr>
            <p:ph type="subTitle" idx="3"/>
          </p:nvPr>
        </p:nvSpPr>
        <p:spPr>
          <a:xfrm>
            <a:off x="726512" y="2595000"/>
            <a:ext cx="24861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t>Broj atributa</a:t>
            </a:r>
            <a:endParaRPr dirty="0"/>
          </a:p>
        </p:txBody>
      </p:sp>
      <p:sp>
        <p:nvSpPr>
          <p:cNvPr id="502" name="Google Shape;502;p62"/>
          <p:cNvSpPr txBox="1">
            <a:spLocks noGrp="1"/>
          </p:cNvSpPr>
          <p:nvPr>
            <p:ph type="subTitle" idx="1"/>
          </p:nvPr>
        </p:nvSpPr>
        <p:spPr>
          <a:xfrm>
            <a:off x="3212612" y="2571750"/>
            <a:ext cx="2486100" cy="380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t>Broj instanci</a:t>
            </a:r>
            <a:endParaRPr dirty="0"/>
          </a:p>
        </p:txBody>
      </p:sp>
      <p:sp>
        <p:nvSpPr>
          <p:cNvPr id="507" name="Google Shape;507;p62"/>
          <p:cNvSpPr txBox="1">
            <a:spLocks noGrp="1"/>
          </p:cNvSpPr>
          <p:nvPr>
            <p:ph type="subTitle" idx="7"/>
          </p:nvPr>
        </p:nvSpPr>
        <p:spPr>
          <a:xfrm>
            <a:off x="5784300" y="2680962"/>
            <a:ext cx="24861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t>Nedostajuće vrednosti</a:t>
            </a:r>
            <a:endParaRPr dirty="0"/>
          </a:p>
        </p:txBody>
      </p:sp>
      <p:sp>
        <p:nvSpPr>
          <p:cNvPr id="509" name="Google Shape;509;p62"/>
          <p:cNvSpPr txBox="1">
            <a:spLocks noGrp="1"/>
          </p:cNvSpPr>
          <p:nvPr>
            <p:ph type="title" idx="9"/>
          </p:nvPr>
        </p:nvSpPr>
        <p:spPr>
          <a:xfrm>
            <a:off x="1040874" y="1904250"/>
            <a:ext cx="1857375"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t>8</a:t>
            </a:r>
            <a:endParaRPr dirty="0"/>
          </a:p>
        </p:txBody>
      </p:sp>
      <p:sp>
        <p:nvSpPr>
          <p:cNvPr id="510" name="Google Shape;510;p62"/>
          <p:cNvSpPr txBox="1">
            <a:spLocks noGrp="1"/>
          </p:cNvSpPr>
          <p:nvPr>
            <p:ph type="title" idx="13"/>
          </p:nvPr>
        </p:nvSpPr>
        <p:spPr>
          <a:xfrm>
            <a:off x="3526974" y="1904250"/>
            <a:ext cx="1857375"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t>43</a:t>
            </a:r>
            <a:r>
              <a:rPr lang="en-US" dirty="0"/>
              <a:t>40</a:t>
            </a:r>
            <a:endParaRPr dirty="0"/>
          </a:p>
        </p:txBody>
      </p:sp>
      <p:sp>
        <p:nvSpPr>
          <p:cNvPr id="511" name="Google Shape;511;p62"/>
          <p:cNvSpPr txBox="1">
            <a:spLocks noGrp="1"/>
          </p:cNvSpPr>
          <p:nvPr>
            <p:ph type="title" idx="14"/>
          </p:nvPr>
        </p:nvSpPr>
        <p:spPr>
          <a:xfrm>
            <a:off x="6507750" y="1927500"/>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endParaRPr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6"/>
          <p:cNvSpPr txBox="1">
            <a:spLocks noGrp="1"/>
          </p:cNvSpPr>
          <p:nvPr>
            <p:ph type="subTitle" idx="1"/>
          </p:nvPr>
        </p:nvSpPr>
        <p:spPr>
          <a:xfrm>
            <a:off x="713225" y="1507099"/>
            <a:ext cx="4744600" cy="29863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Ciljna promenljiva: Cena automobila (selling_price)</a:t>
            </a:r>
          </a:p>
          <a:p>
            <a:pPr marL="0" lvl="0" indent="0" algn="l" rtl="0">
              <a:spcBef>
                <a:spcPts val="0"/>
              </a:spcBef>
              <a:spcAft>
                <a:spcPts val="0"/>
              </a:spcAft>
              <a:buNone/>
            </a:pPr>
            <a:r>
              <a:rPr lang="sr-Latn-RS" dirty="0"/>
              <a:t>DataSet: CAR DETAILS FROM DEKHO</a:t>
            </a:r>
          </a:p>
          <a:p>
            <a:pPr marL="0" lvl="0" indent="0" algn="l" rtl="0">
              <a:spcBef>
                <a:spcPts val="0"/>
              </a:spcBef>
              <a:spcAft>
                <a:spcPts val="0"/>
              </a:spcAft>
              <a:buNone/>
            </a:pPr>
            <a:r>
              <a:rPr lang="sr-Latn-RS" dirty="0"/>
              <a:t>Atributi</a:t>
            </a:r>
            <a:r>
              <a:rPr lang="en-US" dirty="0"/>
              <a:t>:</a:t>
            </a:r>
          </a:p>
          <a:p>
            <a:pPr marL="457200" lvl="0" indent="-317500" algn="l" rtl="0">
              <a:spcBef>
                <a:spcPts val="1000"/>
              </a:spcBef>
              <a:spcAft>
                <a:spcPts val="0"/>
              </a:spcAft>
              <a:buSzPts val="1400"/>
              <a:buChar char="●"/>
            </a:pPr>
            <a:r>
              <a:rPr lang="sr-Latn-RS" dirty="0"/>
              <a:t>Naziv automobila</a:t>
            </a:r>
            <a:endParaRPr dirty="0"/>
          </a:p>
          <a:p>
            <a:pPr marL="457200" lvl="0" indent="-317500" algn="l" rtl="0">
              <a:spcBef>
                <a:spcPts val="0"/>
              </a:spcBef>
              <a:spcAft>
                <a:spcPts val="0"/>
              </a:spcAft>
              <a:buSzPts val="1400"/>
              <a:buChar char="●"/>
            </a:pPr>
            <a:r>
              <a:rPr lang="sr-Latn-RS" dirty="0"/>
              <a:t>Godina proizvodnje</a:t>
            </a:r>
            <a:endParaRPr dirty="0"/>
          </a:p>
          <a:p>
            <a:pPr marL="457200" lvl="0" indent="-317500" algn="l" rtl="0">
              <a:spcBef>
                <a:spcPts val="0"/>
              </a:spcBef>
              <a:spcAft>
                <a:spcPts val="0"/>
              </a:spcAft>
              <a:buSzPts val="1400"/>
              <a:buChar char="●"/>
            </a:pPr>
            <a:r>
              <a:rPr lang="sr-Latn-RS" dirty="0"/>
              <a:t>Cena automobila (INR)</a:t>
            </a:r>
          </a:p>
          <a:p>
            <a:pPr marL="457200" lvl="0" indent="-317500" algn="l" rtl="0">
              <a:spcBef>
                <a:spcPts val="0"/>
              </a:spcBef>
              <a:spcAft>
                <a:spcPts val="0"/>
              </a:spcAft>
              <a:buSzPts val="1400"/>
              <a:buChar char="●"/>
            </a:pPr>
            <a:r>
              <a:rPr lang="sr-Latn-RS" dirty="0"/>
              <a:t>Pređena kilometraža</a:t>
            </a:r>
          </a:p>
          <a:p>
            <a:pPr marL="457200" lvl="0" indent="-317500" algn="l" rtl="0">
              <a:spcBef>
                <a:spcPts val="0"/>
              </a:spcBef>
              <a:spcAft>
                <a:spcPts val="0"/>
              </a:spcAft>
              <a:buSzPts val="1400"/>
              <a:buChar char="●"/>
            </a:pPr>
            <a:r>
              <a:rPr lang="sr-Latn-RS" dirty="0"/>
              <a:t>Gorivo</a:t>
            </a:r>
          </a:p>
          <a:p>
            <a:pPr marL="457200" lvl="0" indent="-317500" algn="l" rtl="0">
              <a:spcBef>
                <a:spcPts val="0"/>
              </a:spcBef>
              <a:spcAft>
                <a:spcPts val="0"/>
              </a:spcAft>
              <a:buSzPts val="1400"/>
              <a:buChar char="●"/>
            </a:pPr>
            <a:r>
              <a:rPr lang="sr-Latn-RS" dirty="0"/>
              <a:t>Tip prodavca</a:t>
            </a:r>
          </a:p>
          <a:p>
            <a:pPr marL="457200" lvl="0" indent="-317500" algn="l" rtl="0">
              <a:spcBef>
                <a:spcPts val="0"/>
              </a:spcBef>
              <a:spcAft>
                <a:spcPts val="0"/>
              </a:spcAft>
              <a:buSzPts val="1400"/>
              <a:buChar char="●"/>
            </a:pPr>
            <a:r>
              <a:rPr lang="sr-Latn-RS" dirty="0"/>
              <a:t>Tip menjača</a:t>
            </a:r>
          </a:p>
          <a:p>
            <a:pPr marL="457200" lvl="0" indent="-317500" algn="l" rtl="0">
              <a:spcBef>
                <a:spcPts val="0"/>
              </a:spcBef>
              <a:spcAft>
                <a:spcPts val="0"/>
              </a:spcAft>
              <a:buSzPts val="1400"/>
              <a:buChar char="●"/>
            </a:pPr>
            <a:r>
              <a:rPr lang="sr-Latn-RS" dirty="0"/>
              <a:t>Vlasnik</a:t>
            </a:r>
          </a:p>
          <a:p>
            <a:pPr marL="139700" lvl="0" indent="0" algn="l" rtl="0">
              <a:spcBef>
                <a:spcPts val="0"/>
              </a:spcBef>
              <a:spcAft>
                <a:spcPts val="0"/>
              </a:spcAft>
              <a:buSzPts val="1400"/>
              <a:buNone/>
            </a:pPr>
            <a:endParaRPr lang="sr-Latn-RS" dirty="0"/>
          </a:p>
        </p:txBody>
      </p:sp>
      <p:sp>
        <p:nvSpPr>
          <p:cNvPr id="553" name="Google Shape;553;p66"/>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Opis i struktura podataka</a:t>
            </a:r>
            <a:endParaRPr dirty="0"/>
          </a:p>
        </p:txBody>
      </p:sp>
      <p:pic>
        <p:nvPicPr>
          <p:cNvPr id="3" name="Picture 2">
            <a:extLst>
              <a:ext uri="{FF2B5EF4-FFF2-40B4-BE49-F238E27FC236}">
                <a16:creationId xmlns:a16="http://schemas.microsoft.com/office/drawing/2014/main" id="{9F55893D-FC1E-0CED-AD1A-B8736106E289}"/>
              </a:ext>
            </a:extLst>
          </p:cNvPr>
          <p:cNvPicPr>
            <a:picLocks noChangeAspect="1"/>
          </p:cNvPicPr>
          <p:nvPr/>
        </p:nvPicPr>
        <p:blipFill>
          <a:blip r:embed="rId3"/>
          <a:stretch>
            <a:fillRect/>
          </a:stretch>
        </p:blipFill>
        <p:spPr>
          <a:xfrm>
            <a:off x="5573867" y="3584083"/>
            <a:ext cx="3170083" cy="618084"/>
          </a:xfrm>
          <a:prstGeom prst="rect">
            <a:avLst/>
          </a:prstGeom>
        </p:spPr>
      </p:pic>
      <p:pic>
        <p:nvPicPr>
          <p:cNvPr id="5" name="Picture 4">
            <a:extLst>
              <a:ext uri="{FF2B5EF4-FFF2-40B4-BE49-F238E27FC236}">
                <a16:creationId xmlns:a16="http://schemas.microsoft.com/office/drawing/2014/main" id="{99956A0D-6A69-142C-C9A7-71E45115E905}"/>
              </a:ext>
            </a:extLst>
          </p:cNvPr>
          <p:cNvPicPr>
            <a:picLocks noChangeAspect="1"/>
          </p:cNvPicPr>
          <p:nvPr/>
        </p:nvPicPr>
        <p:blipFill>
          <a:blip r:embed="rId4"/>
          <a:stretch>
            <a:fillRect/>
          </a:stretch>
        </p:blipFill>
        <p:spPr>
          <a:xfrm>
            <a:off x="7215443" y="1799453"/>
            <a:ext cx="1528508" cy="1615188"/>
          </a:xfrm>
          <a:prstGeom prst="rect">
            <a:avLst/>
          </a:prstGeom>
        </p:spPr>
      </p:pic>
      <p:pic>
        <p:nvPicPr>
          <p:cNvPr id="7" name="Picture 6">
            <a:extLst>
              <a:ext uri="{FF2B5EF4-FFF2-40B4-BE49-F238E27FC236}">
                <a16:creationId xmlns:a16="http://schemas.microsoft.com/office/drawing/2014/main" id="{249813E3-BC05-CE30-24D8-E1F86C978EB0}"/>
              </a:ext>
            </a:extLst>
          </p:cNvPr>
          <p:cNvPicPr>
            <a:picLocks noChangeAspect="1"/>
          </p:cNvPicPr>
          <p:nvPr/>
        </p:nvPicPr>
        <p:blipFill>
          <a:blip r:embed="rId5"/>
          <a:stretch>
            <a:fillRect/>
          </a:stretch>
        </p:blipFill>
        <p:spPr>
          <a:xfrm>
            <a:off x="5573868" y="1800225"/>
            <a:ext cx="1448438" cy="1614416"/>
          </a:xfrm>
          <a:prstGeom prst="rect">
            <a:avLst/>
          </a:prstGeom>
        </p:spPr>
      </p:pic>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7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Distribucija numeričkih atributa </a:t>
            </a:r>
            <a:endParaRPr dirty="0"/>
          </a:p>
        </p:txBody>
      </p:sp>
      <p:sp>
        <p:nvSpPr>
          <p:cNvPr id="602" name="Google Shape;602;p72"/>
          <p:cNvSpPr txBox="1"/>
          <p:nvPr/>
        </p:nvSpPr>
        <p:spPr>
          <a:xfrm>
            <a:off x="5224632" y="4067396"/>
            <a:ext cx="877200"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1995</a:t>
            </a:r>
            <a:endParaRPr dirty="0">
              <a:solidFill>
                <a:schemeClr val="dk1"/>
              </a:solidFill>
              <a:latin typeface="Vidaloka"/>
              <a:ea typeface="Vidaloka"/>
              <a:cs typeface="Vidaloka"/>
              <a:sym typeface="Vidaloka"/>
            </a:endParaRPr>
          </a:p>
        </p:txBody>
      </p:sp>
      <p:sp>
        <p:nvSpPr>
          <p:cNvPr id="603" name="Google Shape;603;p72"/>
          <p:cNvSpPr txBox="1"/>
          <p:nvPr/>
        </p:nvSpPr>
        <p:spPr>
          <a:xfrm>
            <a:off x="6189582" y="4062718"/>
            <a:ext cx="877200"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2005</a:t>
            </a:r>
            <a:endParaRPr dirty="0">
              <a:solidFill>
                <a:schemeClr val="dk1"/>
              </a:solidFill>
              <a:latin typeface="Vidaloka"/>
              <a:ea typeface="Vidaloka"/>
              <a:cs typeface="Vidaloka"/>
              <a:sym typeface="Vidaloka"/>
            </a:endParaRPr>
          </a:p>
        </p:txBody>
      </p:sp>
      <p:sp>
        <p:nvSpPr>
          <p:cNvPr id="604" name="Google Shape;604;p72"/>
          <p:cNvSpPr txBox="1"/>
          <p:nvPr/>
        </p:nvSpPr>
        <p:spPr>
          <a:xfrm>
            <a:off x="7146779" y="4048475"/>
            <a:ext cx="877200"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2015</a:t>
            </a:r>
            <a:endParaRPr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80C7A7AB-55E9-2848-5984-58AEC9C6B220}"/>
              </a:ext>
            </a:extLst>
          </p:cNvPr>
          <p:cNvPicPr>
            <a:picLocks noChangeAspect="1"/>
          </p:cNvPicPr>
          <p:nvPr/>
        </p:nvPicPr>
        <p:blipFill>
          <a:blip r:embed="rId3"/>
          <a:stretch>
            <a:fillRect/>
          </a:stretch>
        </p:blipFill>
        <p:spPr>
          <a:xfrm>
            <a:off x="4966119" y="1529326"/>
            <a:ext cx="3324126" cy="2528609"/>
          </a:xfrm>
          <a:prstGeom prst="rect">
            <a:avLst/>
          </a:prstGeom>
        </p:spPr>
      </p:pic>
      <p:sp>
        <p:nvSpPr>
          <p:cNvPr id="7" name="Google Shape;603;p72">
            <a:extLst>
              <a:ext uri="{FF2B5EF4-FFF2-40B4-BE49-F238E27FC236}">
                <a16:creationId xmlns:a16="http://schemas.microsoft.com/office/drawing/2014/main" id="{CE17B467-5EB8-9D1D-FEF5-99FB8228D713}"/>
              </a:ext>
            </a:extLst>
          </p:cNvPr>
          <p:cNvSpPr txBox="1"/>
          <p:nvPr/>
        </p:nvSpPr>
        <p:spPr>
          <a:xfrm>
            <a:off x="5343627" y="1162865"/>
            <a:ext cx="2765630"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Distrubucija po godini</a:t>
            </a:r>
            <a:endParaRPr dirty="0">
              <a:solidFill>
                <a:schemeClr val="dk1"/>
              </a:solidFill>
              <a:latin typeface="Vidaloka"/>
              <a:ea typeface="Vidaloka"/>
              <a:cs typeface="Vidaloka"/>
              <a:sym typeface="Vidaloka"/>
            </a:endParaRPr>
          </a:p>
        </p:txBody>
      </p:sp>
      <p:pic>
        <p:nvPicPr>
          <p:cNvPr id="9" name="Picture 8">
            <a:extLst>
              <a:ext uri="{FF2B5EF4-FFF2-40B4-BE49-F238E27FC236}">
                <a16:creationId xmlns:a16="http://schemas.microsoft.com/office/drawing/2014/main" id="{D922F731-F001-2998-B181-7379EECF4D96}"/>
              </a:ext>
            </a:extLst>
          </p:cNvPr>
          <p:cNvPicPr>
            <a:picLocks noChangeAspect="1"/>
          </p:cNvPicPr>
          <p:nvPr/>
        </p:nvPicPr>
        <p:blipFill>
          <a:blip r:embed="rId4"/>
          <a:stretch>
            <a:fillRect/>
          </a:stretch>
        </p:blipFill>
        <p:spPr>
          <a:xfrm>
            <a:off x="1187071" y="1519865"/>
            <a:ext cx="3217406" cy="2528610"/>
          </a:xfrm>
          <a:prstGeom prst="rect">
            <a:avLst/>
          </a:prstGeom>
        </p:spPr>
      </p:pic>
      <p:sp>
        <p:nvSpPr>
          <p:cNvPr id="11" name="Google Shape;602;p72">
            <a:extLst>
              <a:ext uri="{FF2B5EF4-FFF2-40B4-BE49-F238E27FC236}">
                <a16:creationId xmlns:a16="http://schemas.microsoft.com/office/drawing/2014/main" id="{868032EF-974E-C5B8-52C7-A8A2CFF21D76}"/>
              </a:ext>
            </a:extLst>
          </p:cNvPr>
          <p:cNvSpPr txBox="1"/>
          <p:nvPr/>
        </p:nvSpPr>
        <p:spPr>
          <a:xfrm>
            <a:off x="1477606" y="4048475"/>
            <a:ext cx="87720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1e⁶</a:t>
            </a:r>
            <a:endParaRPr dirty="0">
              <a:solidFill>
                <a:schemeClr val="dk1"/>
              </a:solidFill>
              <a:latin typeface="Vidaloka"/>
              <a:ea typeface="Vidaloka"/>
              <a:cs typeface="Vidaloka"/>
              <a:sym typeface="Vidaloka"/>
            </a:endParaRPr>
          </a:p>
        </p:txBody>
      </p:sp>
      <p:sp>
        <p:nvSpPr>
          <p:cNvPr id="14" name="Google Shape;602;p72">
            <a:extLst>
              <a:ext uri="{FF2B5EF4-FFF2-40B4-BE49-F238E27FC236}">
                <a16:creationId xmlns:a16="http://schemas.microsoft.com/office/drawing/2014/main" id="{83BAD02B-211A-7AB2-2AC6-B8E3473FFD88}"/>
              </a:ext>
            </a:extLst>
          </p:cNvPr>
          <p:cNvSpPr txBox="1"/>
          <p:nvPr/>
        </p:nvSpPr>
        <p:spPr>
          <a:xfrm>
            <a:off x="2912519" y="4067396"/>
            <a:ext cx="87720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6e⁶</a:t>
            </a:r>
            <a:endParaRPr dirty="0">
              <a:solidFill>
                <a:schemeClr val="dk1"/>
              </a:solidFill>
              <a:latin typeface="Vidaloka"/>
              <a:ea typeface="Vidaloka"/>
              <a:cs typeface="Vidaloka"/>
              <a:sym typeface="Vidaloka"/>
            </a:endParaRPr>
          </a:p>
        </p:txBody>
      </p:sp>
      <p:sp>
        <p:nvSpPr>
          <p:cNvPr id="15" name="Google Shape;602;p72">
            <a:extLst>
              <a:ext uri="{FF2B5EF4-FFF2-40B4-BE49-F238E27FC236}">
                <a16:creationId xmlns:a16="http://schemas.microsoft.com/office/drawing/2014/main" id="{DD24BAEE-779E-513F-E88D-AED44803CF7D}"/>
              </a:ext>
            </a:extLst>
          </p:cNvPr>
          <p:cNvSpPr txBox="1"/>
          <p:nvPr/>
        </p:nvSpPr>
        <p:spPr>
          <a:xfrm>
            <a:off x="1187071" y="1162865"/>
            <a:ext cx="3217406"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Distribucija po ceni</a:t>
            </a:r>
            <a:endParaRPr dirty="0">
              <a:solidFill>
                <a:schemeClr val="dk1"/>
              </a:solidFill>
              <a:latin typeface="Vidaloka"/>
              <a:ea typeface="Vidaloka"/>
              <a:cs typeface="Vidaloka"/>
              <a:sym typeface="Vidaloka"/>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20631029-051F-FD7E-FB8C-40816015CA27}"/>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C81548F8-97E4-AC00-7ABE-A270AE550BE7}"/>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Distribucija numeričkih atributa </a:t>
            </a:r>
            <a:endParaRPr dirty="0"/>
          </a:p>
        </p:txBody>
      </p:sp>
      <p:pic>
        <p:nvPicPr>
          <p:cNvPr id="10" name="Picture 9">
            <a:extLst>
              <a:ext uri="{FF2B5EF4-FFF2-40B4-BE49-F238E27FC236}">
                <a16:creationId xmlns:a16="http://schemas.microsoft.com/office/drawing/2014/main" id="{2271B880-C34E-374B-1F40-DF32161D2366}"/>
              </a:ext>
            </a:extLst>
          </p:cNvPr>
          <p:cNvPicPr>
            <a:picLocks noChangeAspect="1"/>
          </p:cNvPicPr>
          <p:nvPr/>
        </p:nvPicPr>
        <p:blipFill>
          <a:blip r:embed="rId3"/>
          <a:stretch>
            <a:fillRect/>
          </a:stretch>
        </p:blipFill>
        <p:spPr>
          <a:xfrm>
            <a:off x="713225" y="1392805"/>
            <a:ext cx="3780651" cy="2888290"/>
          </a:xfrm>
          <a:prstGeom prst="rect">
            <a:avLst/>
          </a:prstGeom>
        </p:spPr>
      </p:pic>
      <p:sp>
        <p:nvSpPr>
          <p:cNvPr id="12" name="Google Shape;602;p72">
            <a:extLst>
              <a:ext uri="{FF2B5EF4-FFF2-40B4-BE49-F238E27FC236}">
                <a16:creationId xmlns:a16="http://schemas.microsoft.com/office/drawing/2014/main" id="{30DD095E-025C-3FBE-7737-C540DB17F007}"/>
              </a:ext>
            </a:extLst>
          </p:cNvPr>
          <p:cNvSpPr txBox="1"/>
          <p:nvPr/>
        </p:nvSpPr>
        <p:spPr>
          <a:xfrm>
            <a:off x="1141848" y="4268836"/>
            <a:ext cx="877200" cy="357000"/>
          </a:xfrm>
          <a:prstGeom prst="rect">
            <a:avLst/>
          </a:prstGeom>
          <a:noFill/>
          <a:ln>
            <a:noFill/>
          </a:ln>
        </p:spPr>
        <p:txBody>
          <a:bodyPr spcFirstLastPara="1" wrap="square" lIns="91425" tIns="91425" rIns="91425" bIns="91425" anchor="ctr" anchorCtr="0">
            <a:noAutofit/>
          </a:bodyPr>
          <a:lstStyle/>
          <a:p>
            <a:pPr lvl="0" algn="ctr"/>
            <a:r>
              <a:rPr lang="sr-Latn-RS" sz="1200" dirty="0">
                <a:solidFill>
                  <a:schemeClr val="dk1"/>
                </a:solidFill>
                <a:latin typeface="Vidaloka"/>
                <a:ea typeface="Vidaloka"/>
                <a:cs typeface="Vidaloka"/>
                <a:sym typeface="Vidaloka"/>
              </a:rPr>
              <a:t>100000</a:t>
            </a:r>
            <a:endParaRPr dirty="0">
              <a:solidFill>
                <a:schemeClr val="dk1"/>
              </a:solidFill>
              <a:latin typeface="Vidaloka"/>
              <a:ea typeface="Vidaloka"/>
              <a:cs typeface="Vidaloka"/>
              <a:sym typeface="Vidaloka"/>
            </a:endParaRPr>
          </a:p>
        </p:txBody>
      </p:sp>
      <p:sp>
        <p:nvSpPr>
          <p:cNvPr id="13" name="Google Shape;602;p72">
            <a:extLst>
              <a:ext uri="{FF2B5EF4-FFF2-40B4-BE49-F238E27FC236}">
                <a16:creationId xmlns:a16="http://schemas.microsoft.com/office/drawing/2014/main" id="{90588FA3-B7F6-634D-719B-CA607F0691FA}"/>
              </a:ext>
            </a:extLst>
          </p:cNvPr>
          <p:cNvSpPr txBox="1"/>
          <p:nvPr/>
        </p:nvSpPr>
        <p:spPr>
          <a:xfrm>
            <a:off x="2999225" y="4263587"/>
            <a:ext cx="877200" cy="357000"/>
          </a:xfrm>
          <a:prstGeom prst="rect">
            <a:avLst/>
          </a:prstGeom>
          <a:noFill/>
          <a:ln>
            <a:noFill/>
          </a:ln>
        </p:spPr>
        <p:txBody>
          <a:bodyPr spcFirstLastPara="1" wrap="square" lIns="91425" tIns="91425" rIns="91425" bIns="91425" anchor="ctr" anchorCtr="0">
            <a:noAutofit/>
          </a:bodyPr>
          <a:lstStyle/>
          <a:p>
            <a:pPr lvl="0" algn="ctr"/>
            <a:r>
              <a:rPr lang="sr-Latn-RS" sz="1200" dirty="0">
                <a:solidFill>
                  <a:schemeClr val="dk1"/>
                </a:solidFill>
                <a:latin typeface="Vidaloka"/>
                <a:ea typeface="Vidaloka"/>
                <a:cs typeface="Vidaloka"/>
                <a:sym typeface="Vidaloka"/>
              </a:rPr>
              <a:t>600000</a:t>
            </a:r>
            <a:endParaRPr sz="1200" dirty="0">
              <a:solidFill>
                <a:schemeClr val="dk1"/>
              </a:solidFill>
              <a:latin typeface="Vidaloka"/>
              <a:ea typeface="Vidaloka"/>
              <a:cs typeface="Vidaloka"/>
              <a:sym typeface="Vidaloka"/>
            </a:endParaRPr>
          </a:p>
        </p:txBody>
      </p:sp>
      <p:sp>
        <p:nvSpPr>
          <p:cNvPr id="16" name="Google Shape;602;p72">
            <a:extLst>
              <a:ext uri="{FF2B5EF4-FFF2-40B4-BE49-F238E27FC236}">
                <a16:creationId xmlns:a16="http://schemas.microsoft.com/office/drawing/2014/main" id="{B2CD06A1-7CEC-E32A-0CA2-B8BE7E86E584}"/>
              </a:ext>
            </a:extLst>
          </p:cNvPr>
          <p:cNvSpPr txBox="1"/>
          <p:nvPr/>
        </p:nvSpPr>
        <p:spPr>
          <a:xfrm>
            <a:off x="791324" y="1048064"/>
            <a:ext cx="3780651"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Distribucija po kilometraži</a:t>
            </a:r>
            <a:endParaRPr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E14E2F1E-40B1-B096-9ADF-B7F4D977878B}"/>
              </a:ext>
            </a:extLst>
          </p:cNvPr>
          <p:cNvPicPr>
            <a:picLocks noChangeAspect="1"/>
          </p:cNvPicPr>
          <p:nvPr/>
        </p:nvPicPr>
        <p:blipFill>
          <a:blip r:embed="rId4"/>
          <a:stretch>
            <a:fillRect/>
          </a:stretch>
        </p:blipFill>
        <p:spPr>
          <a:xfrm>
            <a:off x="4733498" y="1847113"/>
            <a:ext cx="3903295" cy="1449273"/>
          </a:xfrm>
          <a:prstGeom prst="rect">
            <a:avLst/>
          </a:prstGeom>
        </p:spPr>
      </p:pic>
    </p:spTree>
    <p:extLst>
      <p:ext uri="{BB962C8B-B14F-4D97-AF65-F5344CB8AC3E}">
        <p14:creationId xmlns:p14="http://schemas.microsoft.com/office/powerpoint/2010/main" val="366512545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90"/>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Važnost distribucije podataka</a:t>
            </a:r>
            <a:endParaRPr dirty="0"/>
          </a:p>
        </p:txBody>
      </p:sp>
      <p:sp>
        <p:nvSpPr>
          <p:cNvPr id="885" name="Google Shape;885;p90"/>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Otkrivanje</a:t>
            </a:r>
            <a:endParaRPr dirty="0"/>
          </a:p>
        </p:txBody>
      </p:sp>
      <p:sp>
        <p:nvSpPr>
          <p:cNvPr id="886" name="Google Shape;886;p90"/>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Otkriva prisustvo ekstremnih vrednosti</a:t>
            </a:r>
            <a:endParaRPr dirty="0"/>
          </a:p>
        </p:txBody>
      </p:sp>
      <p:sp>
        <p:nvSpPr>
          <p:cNvPr id="887" name="Google Shape;887;p90"/>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Razumevanje</a:t>
            </a:r>
            <a:endParaRPr dirty="0"/>
          </a:p>
        </p:txBody>
      </p:sp>
      <p:sp>
        <p:nvSpPr>
          <p:cNvPr id="888" name="Google Shape;888;p90"/>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Omogućava razumevanje raspodele podataka</a:t>
            </a:r>
            <a:endParaRPr dirty="0"/>
          </a:p>
        </p:txBody>
      </p:sp>
      <p:sp>
        <p:nvSpPr>
          <p:cNvPr id="889" name="Google Shape;889;p90"/>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Priprema</a:t>
            </a:r>
            <a:endParaRPr dirty="0"/>
          </a:p>
        </p:txBody>
      </p:sp>
      <p:sp>
        <p:nvSpPr>
          <p:cNvPr id="890" name="Google Shape;890;p90"/>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Pomaže u odluci o daljoj pripremi podataka</a:t>
            </a:r>
            <a:endParaRPr dirty="0"/>
          </a:p>
        </p:txBody>
      </p:sp>
      <p:grpSp>
        <p:nvGrpSpPr>
          <p:cNvPr id="2" name="Google Shape;9366;p149">
            <a:extLst>
              <a:ext uri="{FF2B5EF4-FFF2-40B4-BE49-F238E27FC236}">
                <a16:creationId xmlns:a16="http://schemas.microsoft.com/office/drawing/2014/main" id="{0CE59191-3AB6-EE58-4329-8F067ABF24C4}"/>
              </a:ext>
            </a:extLst>
          </p:cNvPr>
          <p:cNvGrpSpPr/>
          <p:nvPr/>
        </p:nvGrpSpPr>
        <p:grpSpPr>
          <a:xfrm>
            <a:off x="1802844" y="2080136"/>
            <a:ext cx="426462" cy="418363"/>
            <a:chOff x="-1183550" y="3586525"/>
            <a:chExt cx="296175" cy="290550"/>
          </a:xfrm>
          <a:solidFill>
            <a:schemeClr val="tx2">
              <a:lumMod val="50000"/>
            </a:schemeClr>
          </a:solidFill>
        </p:grpSpPr>
        <p:sp>
          <p:nvSpPr>
            <p:cNvPr id="3" name="Google Shape;9367;p149">
              <a:extLst>
                <a:ext uri="{FF2B5EF4-FFF2-40B4-BE49-F238E27FC236}">
                  <a16:creationId xmlns:a16="http://schemas.microsoft.com/office/drawing/2014/main" id="{DF072023-BD7D-EB45-3814-1812382C2212}"/>
                </a:ext>
              </a:extLst>
            </p:cNvPr>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4" name="Google Shape;9368;p149">
              <a:extLst>
                <a:ext uri="{FF2B5EF4-FFF2-40B4-BE49-F238E27FC236}">
                  <a16:creationId xmlns:a16="http://schemas.microsoft.com/office/drawing/2014/main" id="{C2B3B8C5-163A-674C-7FDE-111E3E4A49E1}"/>
                </a:ext>
              </a:extLst>
            </p:cNvPr>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5" name="Google Shape;9369;p149">
              <a:extLst>
                <a:ext uri="{FF2B5EF4-FFF2-40B4-BE49-F238E27FC236}">
                  <a16:creationId xmlns:a16="http://schemas.microsoft.com/office/drawing/2014/main" id="{E89038E5-5090-D799-0852-2D79397C39EB}"/>
                </a:ext>
              </a:extLst>
            </p:cNvPr>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6" name="Google Shape;9370;p149">
              <a:extLst>
                <a:ext uri="{FF2B5EF4-FFF2-40B4-BE49-F238E27FC236}">
                  <a16:creationId xmlns:a16="http://schemas.microsoft.com/office/drawing/2014/main" id="{437697E2-E4EA-5F83-148E-C9057642071B}"/>
                </a:ext>
              </a:extLst>
            </p:cNvPr>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 name="Google Shape;9371;p149">
              <a:extLst>
                <a:ext uri="{FF2B5EF4-FFF2-40B4-BE49-F238E27FC236}">
                  <a16:creationId xmlns:a16="http://schemas.microsoft.com/office/drawing/2014/main" id="{3E350EC3-E3BA-A376-0B80-58684B8F4BE1}"/>
                </a:ext>
              </a:extLst>
            </p:cNvPr>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8" name="Google Shape;9372;p149">
              <a:extLst>
                <a:ext uri="{FF2B5EF4-FFF2-40B4-BE49-F238E27FC236}">
                  <a16:creationId xmlns:a16="http://schemas.microsoft.com/office/drawing/2014/main" id="{42F9A815-CD57-4712-AA12-F09CB0A2B938}"/>
                </a:ext>
              </a:extLst>
            </p:cNvPr>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9" name="Google Shape;9373;p149">
              <a:extLst>
                <a:ext uri="{FF2B5EF4-FFF2-40B4-BE49-F238E27FC236}">
                  <a16:creationId xmlns:a16="http://schemas.microsoft.com/office/drawing/2014/main" id="{DBA0650E-2C57-4228-9ED6-CB390A4478EA}"/>
                </a:ext>
              </a:extLst>
            </p:cNvPr>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10" name="Google Shape;9374;p149">
              <a:extLst>
                <a:ext uri="{FF2B5EF4-FFF2-40B4-BE49-F238E27FC236}">
                  <a16:creationId xmlns:a16="http://schemas.microsoft.com/office/drawing/2014/main" id="{34AEDA14-64BE-9B4B-69BE-E7E7B227031D}"/>
                </a:ext>
              </a:extLst>
            </p:cNvPr>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11" name="Google Shape;9375;p149">
              <a:extLst>
                <a:ext uri="{FF2B5EF4-FFF2-40B4-BE49-F238E27FC236}">
                  <a16:creationId xmlns:a16="http://schemas.microsoft.com/office/drawing/2014/main" id="{E54E5E06-18E1-8DAE-1E1C-A54786786546}"/>
                </a:ext>
              </a:extLst>
            </p:cNvPr>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grpSp>
      <p:grpSp>
        <p:nvGrpSpPr>
          <p:cNvPr id="12" name="Google Shape;9285;p149">
            <a:extLst>
              <a:ext uri="{FF2B5EF4-FFF2-40B4-BE49-F238E27FC236}">
                <a16:creationId xmlns:a16="http://schemas.microsoft.com/office/drawing/2014/main" id="{BFDA72A0-087B-16D7-9C91-2815D67404BE}"/>
              </a:ext>
            </a:extLst>
          </p:cNvPr>
          <p:cNvGrpSpPr/>
          <p:nvPr/>
        </p:nvGrpSpPr>
        <p:grpSpPr>
          <a:xfrm>
            <a:off x="4361036" y="2064286"/>
            <a:ext cx="421927" cy="419371"/>
            <a:chOff x="-6689825" y="3992050"/>
            <a:chExt cx="293025" cy="291250"/>
          </a:xfrm>
          <a:solidFill>
            <a:schemeClr val="tx2">
              <a:lumMod val="50000"/>
            </a:schemeClr>
          </a:solidFill>
        </p:grpSpPr>
        <p:sp>
          <p:nvSpPr>
            <p:cNvPr id="13" name="Google Shape;9286;p149">
              <a:extLst>
                <a:ext uri="{FF2B5EF4-FFF2-40B4-BE49-F238E27FC236}">
                  <a16:creationId xmlns:a16="http://schemas.microsoft.com/office/drawing/2014/main" id="{5706811C-0637-2287-E477-C9271B2D7CA4}"/>
                </a:ext>
              </a:extLst>
            </p:cNvPr>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287;p149">
              <a:extLst>
                <a:ext uri="{FF2B5EF4-FFF2-40B4-BE49-F238E27FC236}">
                  <a16:creationId xmlns:a16="http://schemas.microsoft.com/office/drawing/2014/main" id="{6D594650-B83D-EA92-633F-990FDA7DE235}"/>
                </a:ext>
              </a:extLst>
            </p:cNvPr>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288;p149">
              <a:extLst>
                <a:ext uri="{FF2B5EF4-FFF2-40B4-BE49-F238E27FC236}">
                  <a16:creationId xmlns:a16="http://schemas.microsoft.com/office/drawing/2014/main" id="{5243A05C-17E3-8389-F394-B1521A23ED8B}"/>
                </a:ext>
              </a:extLst>
            </p:cNvPr>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289;p149">
              <a:extLst>
                <a:ext uri="{FF2B5EF4-FFF2-40B4-BE49-F238E27FC236}">
                  <a16:creationId xmlns:a16="http://schemas.microsoft.com/office/drawing/2014/main" id="{F1C8A73C-851D-2B3E-C5A3-87C87D4CAC65}"/>
                </a:ext>
              </a:extLst>
            </p:cNvPr>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290;p149">
              <a:extLst>
                <a:ext uri="{FF2B5EF4-FFF2-40B4-BE49-F238E27FC236}">
                  <a16:creationId xmlns:a16="http://schemas.microsoft.com/office/drawing/2014/main" id="{6A06CFA8-EF98-05C1-BD1E-6106670016D8}"/>
                </a:ext>
              </a:extLst>
            </p:cNvPr>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291;p149">
              <a:extLst>
                <a:ext uri="{FF2B5EF4-FFF2-40B4-BE49-F238E27FC236}">
                  <a16:creationId xmlns:a16="http://schemas.microsoft.com/office/drawing/2014/main" id="{1839B67D-DE14-51E6-F39C-C660BCD084AE}"/>
                </a:ext>
              </a:extLst>
            </p:cNvPr>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292;p149">
              <a:extLst>
                <a:ext uri="{FF2B5EF4-FFF2-40B4-BE49-F238E27FC236}">
                  <a16:creationId xmlns:a16="http://schemas.microsoft.com/office/drawing/2014/main" id="{04B1B04D-6D88-E7CB-6E3F-BC34E92C72AF}"/>
                </a:ext>
              </a:extLst>
            </p:cNvPr>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93;p149">
              <a:extLst>
                <a:ext uri="{FF2B5EF4-FFF2-40B4-BE49-F238E27FC236}">
                  <a16:creationId xmlns:a16="http://schemas.microsoft.com/office/drawing/2014/main" id="{BF5F2E3B-E9BC-22D8-8152-09D491614DC0}"/>
                </a:ext>
              </a:extLst>
            </p:cNvPr>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294;p149">
              <a:extLst>
                <a:ext uri="{FF2B5EF4-FFF2-40B4-BE49-F238E27FC236}">
                  <a16:creationId xmlns:a16="http://schemas.microsoft.com/office/drawing/2014/main" id="{F873D8C4-84F1-8618-9F88-BB29E19F0B23}"/>
                </a:ext>
              </a:extLst>
            </p:cNvPr>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295;p149">
              <a:extLst>
                <a:ext uri="{FF2B5EF4-FFF2-40B4-BE49-F238E27FC236}">
                  <a16:creationId xmlns:a16="http://schemas.microsoft.com/office/drawing/2014/main" id="{1DF057BC-27EA-6E7E-9834-B10EB998F9A3}"/>
                </a:ext>
              </a:extLst>
            </p:cNvPr>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296;p149">
              <a:extLst>
                <a:ext uri="{FF2B5EF4-FFF2-40B4-BE49-F238E27FC236}">
                  <a16:creationId xmlns:a16="http://schemas.microsoft.com/office/drawing/2014/main" id="{3BCB65F2-9F5A-DAF8-FB6B-D0DD8E5AE471}"/>
                </a:ext>
              </a:extLst>
            </p:cNvPr>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297;p149">
              <a:extLst>
                <a:ext uri="{FF2B5EF4-FFF2-40B4-BE49-F238E27FC236}">
                  <a16:creationId xmlns:a16="http://schemas.microsoft.com/office/drawing/2014/main" id="{EF022777-D43F-4D0B-D24A-A5A52E7448EC}"/>
                </a:ext>
              </a:extLst>
            </p:cNvPr>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6510;p143">
            <a:extLst>
              <a:ext uri="{FF2B5EF4-FFF2-40B4-BE49-F238E27FC236}">
                <a16:creationId xmlns:a16="http://schemas.microsoft.com/office/drawing/2014/main" id="{6F92FCAC-5CE9-3C76-06A0-209D65A08368}"/>
              </a:ext>
            </a:extLst>
          </p:cNvPr>
          <p:cNvGrpSpPr/>
          <p:nvPr/>
        </p:nvGrpSpPr>
        <p:grpSpPr>
          <a:xfrm>
            <a:off x="6925714" y="2088435"/>
            <a:ext cx="340573" cy="339271"/>
            <a:chOff x="2085450" y="842250"/>
            <a:chExt cx="483700" cy="481850"/>
          </a:xfrm>
          <a:solidFill>
            <a:schemeClr val="tx2">
              <a:lumMod val="50000"/>
            </a:schemeClr>
          </a:solidFill>
        </p:grpSpPr>
        <p:sp>
          <p:nvSpPr>
            <p:cNvPr id="26" name="Google Shape;6511;p143">
              <a:extLst>
                <a:ext uri="{FF2B5EF4-FFF2-40B4-BE49-F238E27FC236}">
                  <a16:creationId xmlns:a16="http://schemas.microsoft.com/office/drawing/2014/main" id="{CCB1CE47-2A4B-9394-7620-BB656A80ED08}"/>
                </a:ext>
              </a:extLst>
            </p:cNvPr>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6512;p143">
              <a:extLst>
                <a:ext uri="{FF2B5EF4-FFF2-40B4-BE49-F238E27FC236}">
                  <a16:creationId xmlns:a16="http://schemas.microsoft.com/office/drawing/2014/main" id="{825A5DCF-2A5D-E8E8-7267-D6663AA607EE}"/>
                </a:ext>
              </a:extLst>
            </p:cNvPr>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6513;p143">
              <a:extLst>
                <a:ext uri="{FF2B5EF4-FFF2-40B4-BE49-F238E27FC236}">
                  <a16:creationId xmlns:a16="http://schemas.microsoft.com/office/drawing/2014/main" id="{492B3635-88BC-6EED-BC5A-B9CC7C569938}"/>
                </a:ext>
              </a:extLst>
            </p:cNvPr>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842C0952-B539-7224-8622-BCC841FCC4A8}"/>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B03BD1F4-E58B-A395-E05E-E6735150467C}"/>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Detekcija ekstremnih vrednosti</a:t>
            </a:r>
            <a:endParaRPr dirty="0"/>
          </a:p>
        </p:txBody>
      </p:sp>
      <p:sp>
        <p:nvSpPr>
          <p:cNvPr id="7" name="Google Shape;603;p72">
            <a:extLst>
              <a:ext uri="{FF2B5EF4-FFF2-40B4-BE49-F238E27FC236}">
                <a16:creationId xmlns:a16="http://schemas.microsoft.com/office/drawing/2014/main" id="{97E2BCB5-8514-EB30-0044-F7CA2D72E26B}"/>
              </a:ext>
            </a:extLst>
          </p:cNvPr>
          <p:cNvSpPr txBox="1"/>
          <p:nvPr/>
        </p:nvSpPr>
        <p:spPr>
          <a:xfrm>
            <a:off x="5026371" y="1162865"/>
            <a:ext cx="3232904"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Ekstremne vrednosti – prodajna cena</a:t>
            </a:r>
            <a:endParaRPr dirty="0">
              <a:solidFill>
                <a:schemeClr val="dk1"/>
              </a:solidFill>
              <a:latin typeface="Vidaloka"/>
              <a:ea typeface="Vidaloka"/>
              <a:cs typeface="Vidaloka"/>
              <a:sym typeface="Vidaloka"/>
            </a:endParaRPr>
          </a:p>
        </p:txBody>
      </p:sp>
      <p:sp>
        <p:nvSpPr>
          <p:cNvPr id="15" name="Google Shape;602;p72">
            <a:extLst>
              <a:ext uri="{FF2B5EF4-FFF2-40B4-BE49-F238E27FC236}">
                <a16:creationId xmlns:a16="http://schemas.microsoft.com/office/drawing/2014/main" id="{95E373CF-9569-95DE-044B-18480BDD679D}"/>
              </a:ext>
            </a:extLst>
          </p:cNvPr>
          <p:cNvSpPr txBox="1"/>
          <p:nvPr/>
        </p:nvSpPr>
        <p:spPr>
          <a:xfrm>
            <a:off x="1064709" y="1162865"/>
            <a:ext cx="342324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Ekstremne vrednosti – godina proizvodnje</a:t>
            </a:r>
            <a:endParaRPr dirty="0">
              <a:solidFill>
                <a:schemeClr val="dk1"/>
              </a:solidFill>
              <a:latin typeface="Vidaloka"/>
              <a:ea typeface="Vidaloka"/>
              <a:cs typeface="Vidaloka"/>
              <a:sym typeface="Vidaloka"/>
            </a:endParaRPr>
          </a:p>
        </p:txBody>
      </p:sp>
      <p:pic>
        <p:nvPicPr>
          <p:cNvPr id="4" name="Picture 3">
            <a:extLst>
              <a:ext uri="{FF2B5EF4-FFF2-40B4-BE49-F238E27FC236}">
                <a16:creationId xmlns:a16="http://schemas.microsoft.com/office/drawing/2014/main" id="{C207348B-0C4C-F57D-A930-BAC1DD2198CC}"/>
              </a:ext>
            </a:extLst>
          </p:cNvPr>
          <p:cNvPicPr>
            <a:picLocks noChangeAspect="1"/>
          </p:cNvPicPr>
          <p:nvPr/>
        </p:nvPicPr>
        <p:blipFill>
          <a:blip r:embed="rId3"/>
          <a:stretch>
            <a:fillRect/>
          </a:stretch>
        </p:blipFill>
        <p:spPr>
          <a:xfrm>
            <a:off x="1064709" y="1665004"/>
            <a:ext cx="3395584" cy="2519149"/>
          </a:xfrm>
          <a:prstGeom prst="rect">
            <a:avLst/>
          </a:prstGeom>
        </p:spPr>
      </p:pic>
      <p:pic>
        <p:nvPicPr>
          <p:cNvPr id="6" name="Picture 5">
            <a:extLst>
              <a:ext uri="{FF2B5EF4-FFF2-40B4-BE49-F238E27FC236}">
                <a16:creationId xmlns:a16="http://schemas.microsoft.com/office/drawing/2014/main" id="{B7B5CB63-73F3-E606-8B31-6A0BE628E6EF}"/>
              </a:ext>
            </a:extLst>
          </p:cNvPr>
          <p:cNvPicPr>
            <a:picLocks noChangeAspect="1"/>
          </p:cNvPicPr>
          <p:nvPr/>
        </p:nvPicPr>
        <p:blipFill>
          <a:blip r:embed="rId4"/>
          <a:stretch>
            <a:fillRect/>
          </a:stretch>
        </p:blipFill>
        <p:spPr>
          <a:xfrm>
            <a:off x="5026371" y="1665004"/>
            <a:ext cx="3252695" cy="2519149"/>
          </a:xfrm>
          <a:prstGeom prst="rect">
            <a:avLst/>
          </a:prstGeom>
        </p:spPr>
      </p:pic>
    </p:spTree>
    <p:extLst>
      <p:ext uri="{BB962C8B-B14F-4D97-AF65-F5344CB8AC3E}">
        <p14:creationId xmlns:p14="http://schemas.microsoft.com/office/powerpoint/2010/main" val="2169634406"/>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FC7F1476-CF4F-2547-E5E1-6CD565D32894}"/>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52CDC78D-3EEC-82CF-F7AD-43150A9B293A}"/>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Detekcija ekstremnih vrednosti</a:t>
            </a:r>
            <a:endParaRPr dirty="0"/>
          </a:p>
        </p:txBody>
      </p:sp>
      <p:sp>
        <p:nvSpPr>
          <p:cNvPr id="15" name="Google Shape;602;p72">
            <a:extLst>
              <a:ext uri="{FF2B5EF4-FFF2-40B4-BE49-F238E27FC236}">
                <a16:creationId xmlns:a16="http://schemas.microsoft.com/office/drawing/2014/main" id="{F69F056E-A40D-A14F-4BF2-0200BFB36003}"/>
              </a:ext>
            </a:extLst>
          </p:cNvPr>
          <p:cNvSpPr txBox="1"/>
          <p:nvPr/>
        </p:nvSpPr>
        <p:spPr>
          <a:xfrm>
            <a:off x="1024542" y="1162865"/>
            <a:ext cx="342324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Ekstremne vrednosti – pređena kilometraža</a:t>
            </a:r>
            <a:endParaRPr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A4E1FADA-2ACE-B211-1396-8EED1B52E65D}"/>
              </a:ext>
            </a:extLst>
          </p:cNvPr>
          <p:cNvPicPr>
            <a:picLocks noChangeAspect="1"/>
          </p:cNvPicPr>
          <p:nvPr/>
        </p:nvPicPr>
        <p:blipFill>
          <a:blip r:embed="rId3"/>
          <a:stretch>
            <a:fillRect/>
          </a:stretch>
        </p:blipFill>
        <p:spPr>
          <a:xfrm>
            <a:off x="972758" y="1665005"/>
            <a:ext cx="3526809" cy="2519149"/>
          </a:xfrm>
          <a:prstGeom prst="rect">
            <a:avLst/>
          </a:prstGeom>
        </p:spPr>
      </p:pic>
      <p:pic>
        <p:nvPicPr>
          <p:cNvPr id="8" name="Picture 7">
            <a:extLst>
              <a:ext uri="{FF2B5EF4-FFF2-40B4-BE49-F238E27FC236}">
                <a16:creationId xmlns:a16="http://schemas.microsoft.com/office/drawing/2014/main" id="{995F38A1-4454-75D6-D50D-F54CAA5E9932}"/>
              </a:ext>
            </a:extLst>
          </p:cNvPr>
          <p:cNvPicPr>
            <a:picLocks noChangeAspect="1"/>
          </p:cNvPicPr>
          <p:nvPr/>
        </p:nvPicPr>
        <p:blipFill>
          <a:blip r:embed="rId4"/>
          <a:stretch>
            <a:fillRect/>
          </a:stretch>
        </p:blipFill>
        <p:spPr>
          <a:xfrm>
            <a:off x="4903916" y="2151315"/>
            <a:ext cx="3526809" cy="840869"/>
          </a:xfrm>
          <a:prstGeom prst="rect">
            <a:avLst/>
          </a:prstGeom>
        </p:spPr>
      </p:pic>
    </p:spTree>
    <p:extLst>
      <p:ext uri="{BB962C8B-B14F-4D97-AF65-F5344CB8AC3E}">
        <p14:creationId xmlns:p14="http://schemas.microsoft.com/office/powerpoint/2010/main" val="112845110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4"/>
          <p:cNvSpPr txBox="1">
            <a:spLocks noGrp="1"/>
          </p:cNvSpPr>
          <p:nvPr>
            <p:ph type="title"/>
          </p:nvPr>
        </p:nvSpPr>
        <p:spPr>
          <a:xfrm>
            <a:off x="1075133" y="2943057"/>
            <a:ext cx="6993731" cy="49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a:t>
            </a:r>
            <a:r>
              <a:rPr lang="sr-Latn-RS" i="1" dirty="0"/>
              <a:t>Važnost detekcije ekstremnih vrednosti</a:t>
            </a:r>
            <a:endParaRPr i="1" dirty="0"/>
          </a:p>
        </p:txBody>
      </p:sp>
      <p:sp>
        <p:nvSpPr>
          <p:cNvPr id="541" name="Google Shape;541;p64"/>
          <p:cNvSpPr txBox="1">
            <a:spLocks noGrp="1"/>
          </p:cNvSpPr>
          <p:nvPr>
            <p:ph type="subTitle" idx="1"/>
          </p:nvPr>
        </p:nvSpPr>
        <p:spPr>
          <a:xfrm>
            <a:off x="1075133" y="1404787"/>
            <a:ext cx="6993731" cy="1324126"/>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sr-Latn-RS" i="1" dirty="0"/>
              <a:t>	Ekstremne vrednosti mogu narušiti tačnost modela. Linearni modeli su posebno osetljivi na ekstremne vrednosti, mogu povećati MSE i RMSE i mogu ukazivati na greške u podacima.</a:t>
            </a:r>
            <a:endParaRPr i="1" dirty="0"/>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88D4D011-2A96-5BC3-E2AF-EC9DBFCBD95A}"/>
            </a:ext>
          </a:extLst>
        </p:cNvPr>
        <p:cNvGrpSpPr/>
        <p:nvPr/>
      </p:nvGrpSpPr>
      <p:grpSpPr>
        <a:xfrm>
          <a:off x="0" y="0"/>
          <a:ext cx="0" cy="0"/>
          <a:chOff x="0" y="0"/>
          <a:chExt cx="0" cy="0"/>
        </a:xfrm>
      </p:grpSpPr>
      <p:sp>
        <p:nvSpPr>
          <p:cNvPr id="552" name="Google Shape;552;p66">
            <a:extLst>
              <a:ext uri="{FF2B5EF4-FFF2-40B4-BE49-F238E27FC236}">
                <a16:creationId xmlns:a16="http://schemas.microsoft.com/office/drawing/2014/main" id="{8957C209-B29E-677E-92EA-29E11A0371F7}"/>
              </a:ext>
            </a:extLst>
          </p:cNvPr>
          <p:cNvSpPr txBox="1">
            <a:spLocks noGrp="1"/>
          </p:cNvSpPr>
          <p:nvPr>
            <p:ph type="subTitle" idx="1"/>
          </p:nvPr>
        </p:nvSpPr>
        <p:spPr>
          <a:xfrm>
            <a:off x="713225" y="1507099"/>
            <a:ext cx="4644588" cy="29863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Razumevanje uticaja atributa na ciljinu promenljivu.</a:t>
            </a:r>
          </a:p>
          <a:p>
            <a:pPr marL="0" lvl="0" indent="0" algn="l" rtl="0">
              <a:spcBef>
                <a:spcPts val="0"/>
              </a:spcBef>
              <a:spcAft>
                <a:spcPts val="0"/>
              </a:spcAft>
              <a:buNone/>
            </a:pPr>
            <a:r>
              <a:rPr lang="sr-Latn-RS" dirty="0"/>
              <a:t>Korelacije</a:t>
            </a:r>
            <a:r>
              <a:rPr lang="en-US" dirty="0"/>
              <a:t>:</a:t>
            </a:r>
          </a:p>
          <a:p>
            <a:pPr marL="457200" lvl="0" indent="-317500" algn="l" rtl="0">
              <a:spcBef>
                <a:spcPts val="1000"/>
              </a:spcBef>
              <a:spcAft>
                <a:spcPts val="0"/>
              </a:spcAft>
              <a:buSzPts val="1400"/>
              <a:buChar char="●"/>
            </a:pPr>
            <a:r>
              <a:rPr lang="sr-Latn-RS" dirty="0"/>
              <a:t>Godina i prodajna cena: umerena pozitivna</a:t>
            </a:r>
            <a:endParaRPr dirty="0"/>
          </a:p>
          <a:p>
            <a:pPr marL="457200" lvl="0" indent="-317500" algn="l" rtl="0">
              <a:spcBef>
                <a:spcPts val="0"/>
              </a:spcBef>
              <a:spcAft>
                <a:spcPts val="0"/>
              </a:spcAft>
              <a:buSzPts val="1400"/>
              <a:buChar char="●"/>
            </a:pPr>
            <a:r>
              <a:rPr lang="sr-Latn-RS" dirty="0"/>
              <a:t>Kilometraža i prodajna cena: slaba negativna</a:t>
            </a:r>
            <a:endParaRPr dirty="0"/>
          </a:p>
          <a:p>
            <a:pPr marL="457200" lvl="0" indent="-317500" algn="l" rtl="0">
              <a:spcBef>
                <a:spcPts val="0"/>
              </a:spcBef>
              <a:spcAft>
                <a:spcPts val="0"/>
              </a:spcAft>
              <a:buSzPts val="1400"/>
              <a:buChar char="●"/>
            </a:pPr>
            <a:r>
              <a:rPr lang="sr-Latn-RS" dirty="0"/>
              <a:t>Godina i kilometraža: umerena negativna</a:t>
            </a:r>
          </a:p>
          <a:p>
            <a:pPr marL="139700" lvl="0" indent="0" algn="l" rtl="0">
              <a:spcBef>
                <a:spcPts val="0"/>
              </a:spcBef>
              <a:spcAft>
                <a:spcPts val="0"/>
              </a:spcAft>
              <a:buSzPts val="1400"/>
              <a:buNone/>
            </a:pPr>
            <a:endParaRPr lang="sr-Latn-RS" dirty="0"/>
          </a:p>
          <a:p>
            <a:pPr marL="139700" lvl="0" indent="0" algn="l" rtl="0">
              <a:spcBef>
                <a:spcPts val="0"/>
              </a:spcBef>
              <a:spcAft>
                <a:spcPts val="0"/>
              </a:spcAft>
              <a:buSzPts val="1400"/>
              <a:buNone/>
            </a:pPr>
            <a:r>
              <a:rPr lang="sr-Latn-RS" dirty="0"/>
              <a:t>Nema jake korelacije između ulaznih promenljivih i ne postoji izražena multikolinearnost.</a:t>
            </a:r>
          </a:p>
        </p:txBody>
      </p:sp>
      <p:sp>
        <p:nvSpPr>
          <p:cNvPr id="553" name="Google Shape;553;p66">
            <a:extLst>
              <a:ext uri="{FF2B5EF4-FFF2-40B4-BE49-F238E27FC236}">
                <a16:creationId xmlns:a16="http://schemas.microsoft.com/office/drawing/2014/main" id="{6E876ECF-D48C-C4F7-F2F6-FA4EF316CB33}"/>
              </a:ext>
            </a:extLst>
          </p:cNvPr>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Analiza korelacija</a:t>
            </a:r>
            <a:endParaRPr dirty="0"/>
          </a:p>
        </p:txBody>
      </p:sp>
      <p:pic>
        <p:nvPicPr>
          <p:cNvPr id="4" name="Picture 3">
            <a:extLst>
              <a:ext uri="{FF2B5EF4-FFF2-40B4-BE49-F238E27FC236}">
                <a16:creationId xmlns:a16="http://schemas.microsoft.com/office/drawing/2014/main" id="{F56C50F7-BC83-476E-0F47-6927918B3983}"/>
              </a:ext>
            </a:extLst>
          </p:cNvPr>
          <p:cNvPicPr>
            <a:picLocks noChangeAspect="1"/>
          </p:cNvPicPr>
          <p:nvPr/>
        </p:nvPicPr>
        <p:blipFill>
          <a:blip r:embed="rId3"/>
          <a:stretch>
            <a:fillRect/>
          </a:stretch>
        </p:blipFill>
        <p:spPr>
          <a:xfrm>
            <a:off x="5457825" y="1507099"/>
            <a:ext cx="3339585" cy="2729389"/>
          </a:xfrm>
          <a:prstGeom prst="rect">
            <a:avLst/>
          </a:prstGeom>
        </p:spPr>
      </p:pic>
    </p:spTree>
    <p:extLst>
      <p:ext uri="{BB962C8B-B14F-4D97-AF65-F5344CB8AC3E}">
        <p14:creationId xmlns:p14="http://schemas.microsoft.com/office/powerpoint/2010/main" val="104183023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01830129-E8F5-8A04-A0AD-C9128DCC0423}"/>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E52D099C-9672-9FB3-226D-3510D0C2F235}"/>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Odnos</a:t>
            </a:r>
            <a:r>
              <a:rPr lang="en-US" dirty="0"/>
              <a:t> </a:t>
            </a:r>
            <a:r>
              <a:rPr lang="en-US" dirty="0" err="1"/>
              <a:t>kategorijskih</a:t>
            </a:r>
            <a:r>
              <a:rPr lang="en-US" dirty="0"/>
              <a:t> </a:t>
            </a:r>
            <a:r>
              <a:rPr lang="en-US" dirty="0" err="1"/>
              <a:t>atributa</a:t>
            </a:r>
            <a:r>
              <a:rPr lang="en-US" dirty="0"/>
              <a:t> </a:t>
            </a:r>
            <a:r>
              <a:rPr lang="en-US" dirty="0" err="1"/>
              <a:t>sa</a:t>
            </a:r>
            <a:r>
              <a:rPr lang="en-US" dirty="0"/>
              <a:t> </a:t>
            </a:r>
            <a:r>
              <a:rPr lang="en-US" dirty="0" err="1"/>
              <a:t>cenom</a:t>
            </a:r>
            <a:endParaRPr dirty="0"/>
          </a:p>
        </p:txBody>
      </p:sp>
      <p:sp>
        <p:nvSpPr>
          <p:cNvPr id="7" name="Google Shape;603;p72">
            <a:extLst>
              <a:ext uri="{FF2B5EF4-FFF2-40B4-BE49-F238E27FC236}">
                <a16:creationId xmlns:a16="http://schemas.microsoft.com/office/drawing/2014/main" id="{E6B2ADE7-1E3A-D277-5F9A-8E9D8E9B340B}"/>
              </a:ext>
            </a:extLst>
          </p:cNvPr>
          <p:cNvSpPr txBox="1"/>
          <p:nvPr/>
        </p:nvSpPr>
        <p:spPr>
          <a:xfrm>
            <a:off x="5026371" y="1162865"/>
            <a:ext cx="3232904"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solidFill>
                  <a:schemeClr val="dk1"/>
                </a:solidFill>
                <a:latin typeface="Vidaloka"/>
                <a:ea typeface="Vidaloka"/>
                <a:cs typeface="Vidaloka"/>
                <a:sym typeface="Vidaloka"/>
              </a:rPr>
              <a:t>Odnos</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tipa</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prodavca</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i</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cene</a:t>
            </a:r>
            <a:endParaRPr dirty="0">
              <a:solidFill>
                <a:schemeClr val="dk1"/>
              </a:solidFill>
              <a:latin typeface="Vidaloka"/>
              <a:ea typeface="Vidaloka"/>
              <a:cs typeface="Vidaloka"/>
              <a:sym typeface="Vidaloka"/>
            </a:endParaRPr>
          </a:p>
        </p:txBody>
      </p:sp>
      <p:sp>
        <p:nvSpPr>
          <p:cNvPr id="15" name="Google Shape;602;p72">
            <a:extLst>
              <a:ext uri="{FF2B5EF4-FFF2-40B4-BE49-F238E27FC236}">
                <a16:creationId xmlns:a16="http://schemas.microsoft.com/office/drawing/2014/main" id="{22FDFEAD-7A87-435A-A59A-E8BEB913E269}"/>
              </a:ext>
            </a:extLst>
          </p:cNvPr>
          <p:cNvSpPr txBox="1"/>
          <p:nvPr/>
        </p:nvSpPr>
        <p:spPr>
          <a:xfrm>
            <a:off x="1064709" y="1162865"/>
            <a:ext cx="3423240" cy="357000"/>
          </a:xfrm>
          <a:prstGeom prst="rect">
            <a:avLst/>
          </a:prstGeom>
          <a:noFill/>
          <a:ln>
            <a:noFill/>
          </a:ln>
        </p:spPr>
        <p:txBody>
          <a:bodyPr spcFirstLastPara="1" wrap="square" lIns="91425" tIns="91425" rIns="91425" bIns="91425" anchor="ctr" anchorCtr="0">
            <a:noAutofit/>
          </a:bodyPr>
          <a:lstStyle/>
          <a:p>
            <a:pPr lvl="0" algn="ctr"/>
            <a:r>
              <a:rPr lang="en-US" dirty="0" err="1">
                <a:solidFill>
                  <a:schemeClr val="dk1"/>
                </a:solidFill>
                <a:latin typeface="Vidaloka"/>
                <a:ea typeface="Vidaloka"/>
                <a:cs typeface="Vidaloka"/>
                <a:sym typeface="Vidaloka"/>
              </a:rPr>
              <a:t>Odnos</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goriva</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i</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cene</a:t>
            </a:r>
            <a:endParaRPr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B2CE7918-B353-94CE-776C-4880F4C50F11}"/>
              </a:ext>
            </a:extLst>
          </p:cNvPr>
          <p:cNvPicPr>
            <a:picLocks noChangeAspect="1"/>
          </p:cNvPicPr>
          <p:nvPr/>
        </p:nvPicPr>
        <p:blipFill>
          <a:blip r:embed="rId3"/>
          <a:stretch>
            <a:fillRect/>
          </a:stretch>
        </p:blipFill>
        <p:spPr>
          <a:xfrm>
            <a:off x="1235254" y="1665004"/>
            <a:ext cx="3252695" cy="2544599"/>
          </a:xfrm>
          <a:prstGeom prst="rect">
            <a:avLst/>
          </a:prstGeom>
        </p:spPr>
      </p:pic>
      <p:pic>
        <p:nvPicPr>
          <p:cNvPr id="8" name="Picture 7">
            <a:extLst>
              <a:ext uri="{FF2B5EF4-FFF2-40B4-BE49-F238E27FC236}">
                <a16:creationId xmlns:a16="http://schemas.microsoft.com/office/drawing/2014/main" id="{42100CF4-40E5-A1A8-3E8A-5FC2BEB152D1}"/>
              </a:ext>
            </a:extLst>
          </p:cNvPr>
          <p:cNvPicPr>
            <a:picLocks noChangeAspect="1"/>
          </p:cNvPicPr>
          <p:nvPr/>
        </p:nvPicPr>
        <p:blipFill>
          <a:blip r:embed="rId4"/>
          <a:stretch>
            <a:fillRect/>
          </a:stretch>
        </p:blipFill>
        <p:spPr>
          <a:xfrm>
            <a:off x="5026371" y="1665003"/>
            <a:ext cx="3295027" cy="2544599"/>
          </a:xfrm>
          <a:prstGeom prst="rect">
            <a:avLst/>
          </a:prstGeom>
        </p:spPr>
      </p:pic>
    </p:spTree>
    <p:extLst>
      <p:ext uri="{BB962C8B-B14F-4D97-AF65-F5344CB8AC3E}">
        <p14:creationId xmlns:p14="http://schemas.microsoft.com/office/powerpoint/2010/main" val="3391963956"/>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FF94FC48-2839-AA17-307A-EE631826E105}"/>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DA15CAE5-C4E0-6CD9-548D-6B2A44A7B71D}"/>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Odnos</a:t>
            </a:r>
            <a:r>
              <a:rPr lang="en-US" dirty="0"/>
              <a:t> </a:t>
            </a:r>
            <a:r>
              <a:rPr lang="en-US" dirty="0" err="1"/>
              <a:t>kategorijskih</a:t>
            </a:r>
            <a:r>
              <a:rPr lang="en-US" dirty="0"/>
              <a:t> </a:t>
            </a:r>
            <a:r>
              <a:rPr lang="en-US" dirty="0" err="1"/>
              <a:t>atributa</a:t>
            </a:r>
            <a:r>
              <a:rPr lang="en-US" dirty="0"/>
              <a:t> </a:t>
            </a:r>
            <a:r>
              <a:rPr lang="en-US" dirty="0" err="1"/>
              <a:t>sa</a:t>
            </a:r>
            <a:r>
              <a:rPr lang="en-US" dirty="0"/>
              <a:t> </a:t>
            </a:r>
            <a:r>
              <a:rPr lang="en-US" dirty="0" err="1"/>
              <a:t>cenom</a:t>
            </a:r>
            <a:endParaRPr dirty="0"/>
          </a:p>
        </p:txBody>
      </p:sp>
      <p:sp>
        <p:nvSpPr>
          <p:cNvPr id="7" name="Google Shape;603;p72">
            <a:extLst>
              <a:ext uri="{FF2B5EF4-FFF2-40B4-BE49-F238E27FC236}">
                <a16:creationId xmlns:a16="http://schemas.microsoft.com/office/drawing/2014/main" id="{3E46A5FF-48DF-CF5C-53E6-CD7EF60C9F96}"/>
              </a:ext>
            </a:extLst>
          </p:cNvPr>
          <p:cNvSpPr txBox="1"/>
          <p:nvPr/>
        </p:nvSpPr>
        <p:spPr>
          <a:xfrm>
            <a:off x="5026371" y="1162865"/>
            <a:ext cx="3232904"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solidFill>
                  <a:schemeClr val="dk1"/>
                </a:solidFill>
                <a:latin typeface="Vidaloka"/>
                <a:ea typeface="Vidaloka"/>
                <a:cs typeface="Vidaloka"/>
                <a:sym typeface="Vidaloka"/>
              </a:rPr>
              <a:t>Odnos</a:t>
            </a:r>
            <a:r>
              <a:rPr lang="en-US" dirty="0">
                <a:solidFill>
                  <a:schemeClr val="dk1"/>
                </a:solidFill>
                <a:latin typeface="Vidaloka"/>
                <a:ea typeface="Vidaloka"/>
                <a:cs typeface="Vidaloka"/>
                <a:sym typeface="Vidaloka"/>
              </a:rPr>
              <a:t> </a:t>
            </a:r>
            <a:r>
              <a:rPr lang="sr-Latn-RS" dirty="0">
                <a:solidFill>
                  <a:schemeClr val="dk1"/>
                </a:solidFill>
                <a:latin typeface="Vidaloka"/>
                <a:ea typeface="Vidaloka"/>
                <a:cs typeface="Vidaloka"/>
                <a:sym typeface="Vidaloka"/>
              </a:rPr>
              <a:t>vlasnika i cene</a:t>
            </a:r>
            <a:endParaRPr dirty="0">
              <a:solidFill>
                <a:schemeClr val="dk1"/>
              </a:solidFill>
              <a:latin typeface="Vidaloka"/>
              <a:ea typeface="Vidaloka"/>
              <a:cs typeface="Vidaloka"/>
              <a:sym typeface="Vidaloka"/>
            </a:endParaRPr>
          </a:p>
        </p:txBody>
      </p:sp>
      <p:sp>
        <p:nvSpPr>
          <p:cNvPr id="15" name="Google Shape;602;p72">
            <a:extLst>
              <a:ext uri="{FF2B5EF4-FFF2-40B4-BE49-F238E27FC236}">
                <a16:creationId xmlns:a16="http://schemas.microsoft.com/office/drawing/2014/main" id="{65CF67E4-A25F-809D-F2FC-A1F7931CDACD}"/>
              </a:ext>
            </a:extLst>
          </p:cNvPr>
          <p:cNvSpPr txBox="1"/>
          <p:nvPr/>
        </p:nvSpPr>
        <p:spPr>
          <a:xfrm>
            <a:off x="1064709" y="1162865"/>
            <a:ext cx="3423240" cy="357000"/>
          </a:xfrm>
          <a:prstGeom prst="rect">
            <a:avLst/>
          </a:prstGeom>
          <a:noFill/>
          <a:ln>
            <a:noFill/>
          </a:ln>
        </p:spPr>
        <p:txBody>
          <a:bodyPr spcFirstLastPara="1" wrap="square" lIns="91425" tIns="91425" rIns="91425" bIns="91425" anchor="ctr" anchorCtr="0">
            <a:noAutofit/>
          </a:bodyPr>
          <a:lstStyle/>
          <a:p>
            <a:pPr lvl="0" algn="ctr"/>
            <a:r>
              <a:rPr lang="en-US" dirty="0" err="1">
                <a:solidFill>
                  <a:schemeClr val="dk1"/>
                </a:solidFill>
                <a:latin typeface="Vidaloka"/>
                <a:ea typeface="Vidaloka"/>
                <a:cs typeface="Vidaloka"/>
                <a:sym typeface="Vidaloka"/>
              </a:rPr>
              <a:t>Odnos</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tipa</a:t>
            </a:r>
            <a:r>
              <a:rPr lang="en-US" dirty="0">
                <a:solidFill>
                  <a:schemeClr val="dk1"/>
                </a:solidFill>
                <a:latin typeface="Vidaloka"/>
                <a:ea typeface="Vidaloka"/>
                <a:cs typeface="Vidaloka"/>
                <a:sym typeface="Vidaloka"/>
              </a:rPr>
              <a:t> </a:t>
            </a:r>
            <a:r>
              <a:rPr lang="en-US" dirty="0" err="1">
                <a:solidFill>
                  <a:schemeClr val="dk1"/>
                </a:solidFill>
                <a:latin typeface="Vidaloka"/>
                <a:ea typeface="Vidaloka"/>
                <a:cs typeface="Vidaloka"/>
                <a:sym typeface="Vidaloka"/>
              </a:rPr>
              <a:t>menja</a:t>
            </a:r>
            <a:r>
              <a:rPr lang="sr-Latn-RS" dirty="0">
                <a:solidFill>
                  <a:schemeClr val="dk1"/>
                </a:solidFill>
                <a:latin typeface="Vidaloka"/>
                <a:ea typeface="Vidaloka"/>
                <a:cs typeface="Vidaloka"/>
                <a:sym typeface="Vidaloka"/>
              </a:rPr>
              <a:t>ča i cene</a:t>
            </a:r>
            <a:endParaRPr dirty="0">
              <a:solidFill>
                <a:schemeClr val="dk1"/>
              </a:solidFill>
              <a:latin typeface="Vidaloka"/>
              <a:ea typeface="Vidaloka"/>
              <a:cs typeface="Vidaloka"/>
              <a:sym typeface="Vidaloka"/>
            </a:endParaRPr>
          </a:p>
        </p:txBody>
      </p:sp>
      <p:pic>
        <p:nvPicPr>
          <p:cNvPr id="4" name="Picture 3">
            <a:extLst>
              <a:ext uri="{FF2B5EF4-FFF2-40B4-BE49-F238E27FC236}">
                <a16:creationId xmlns:a16="http://schemas.microsoft.com/office/drawing/2014/main" id="{5FA73C7C-61D6-64EC-A2B6-5B4F6276E6F5}"/>
              </a:ext>
            </a:extLst>
          </p:cNvPr>
          <p:cNvPicPr>
            <a:picLocks noChangeAspect="1"/>
          </p:cNvPicPr>
          <p:nvPr/>
        </p:nvPicPr>
        <p:blipFill>
          <a:blip r:embed="rId3"/>
          <a:stretch>
            <a:fillRect/>
          </a:stretch>
        </p:blipFill>
        <p:spPr>
          <a:xfrm>
            <a:off x="1165383" y="1665003"/>
            <a:ext cx="3208079" cy="2544599"/>
          </a:xfrm>
          <a:prstGeom prst="rect">
            <a:avLst/>
          </a:prstGeom>
        </p:spPr>
      </p:pic>
      <p:pic>
        <p:nvPicPr>
          <p:cNvPr id="6" name="Picture 5">
            <a:extLst>
              <a:ext uri="{FF2B5EF4-FFF2-40B4-BE49-F238E27FC236}">
                <a16:creationId xmlns:a16="http://schemas.microsoft.com/office/drawing/2014/main" id="{FC84B6B7-A995-81F3-965B-347AED5127CD}"/>
              </a:ext>
            </a:extLst>
          </p:cNvPr>
          <p:cNvPicPr>
            <a:picLocks noChangeAspect="1"/>
          </p:cNvPicPr>
          <p:nvPr/>
        </p:nvPicPr>
        <p:blipFill>
          <a:blip r:embed="rId4"/>
          <a:stretch>
            <a:fillRect/>
          </a:stretch>
        </p:blipFill>
        <p:spPr>
          <a:xfrm>
            <a:off x="5026371" y="1665003"/>
            <a:ext cx="3241335" cy="2544599"/>
          </a:xfrm>
          <a:prstGeom prst="rect">
            <a:avLst/>
          </a:prstGeom>
        </p:spPr>
      </p:pic>
    </p:spTree>
    <p:extLst>
      <p:ext uri="{BB962C8B-B14F-4D97-AF65-F5344CB8AC3E}">
        <p14:creationId xmlns:p14="http://schemas.microsoft.com/office/powerpoint/2010/main" val="416403056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subTitle" idx="1"/>
          </p:nvPr>
        </p:nvSpPr>
        <p:spPr>
          <a:xfrm>
            <a:off x="1732050" y="1560556"/>
            <a:ext cx="3847200" cy="23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sr-Latn-RS" dirty="0">
                <a:solidFill>
                  <a:schemeClr val="dk1"/>
                </a:solidFill>
              </a:rPr>
              <a:t>Zaključci EDA</a:t>
            </a:r>
            <a:r>
              <a:rPr lang="en" dirty="0">
                <a:solidFill>
                  <a:schemeClr val="dk1"/>
                </a:solidFill>
              </a:rPr>
              <a:t>:</a:t>
            </a:r>
            <a:endParaRPr dirty="0">
              <a:solidFill>
                <a:schemeClr val="dk1"/>
              </a:solidFill>
            </a:endParaRPr>
          </a:p>
          <a:p>
            <a:pPr marL="457200" lvl="0" indent="-317500" algn="l" rtl="0">
              <a:spcBef>
                <a:spcPts val="1000"/>
              </a:spcBef>
              <a:spcAft>
                <a:spcPts val="0"/>
              </a:spcAft>
              <a:buSzPts val="1400"/>
              <a:buChar char="●"/>
            </a:pPr>
            <a:r>
              <a:rPr lang="sr-Latn-RS" dirty="0">
                <a:solidFill>
                  <a:schemeClr val="dk1"/>
                </a:solidFill>
              </a:rPr>
              <a:t>Cena vozila ima asimetričnu distribuciju</a:t>
            </a:r>
            <a:endParaRPr dirty="0">
              <a:solidFill>
                <a:schemeClr val="dk1"/>
              </a:solidFill>
            </a:endParaRPr>
          </a:p>
          <a:p>
            <a:pPr marL="457200" lvl="0" indent="-317500" algn="l" rtl="0">
              <a:spcBef>
                <a:spcPts val="0"/>
              </a:spcBef>
              <a:spcAft>
                <a:spcPts val="0"/>
              </a:spcAft>
              <a:buSzPts val="1400"/>
              <a:buChar char="●"/>
            </a:pPr>
            <a:r>
              <a:rPr lang="sr-Latn-RS" dirty="0">
                <a:solidFill>
                  <a:schemeClr val="dk1"/>
                </a:solidFill>
              </a:rPr>
              <a:t>Postoje ekstremne vrednosti</a:t>
            </a:r>
            <a:endParaRPr dirty="0">
              <a:solidFill>
                <a:schemeClr val="dk1"/>
              </a:solidFill>
            </a:endParaRPr>
          </a:p>
          <a:p>
            <a:pPr marL="457200" lvl="0" indent="-317500" algn="l" rtl="0">
              <a:spcBef>
                <a:spcPts val="0"/>
              </a:spcBef>
              <a:spcAft>
                <a:spcPts val="0"/>
              </a:spcAft>
              <a:buSzPts val="1400"/>
              <a:buChar char="●"/>
            </a:pPr>
            <a:r>
              <a:rPr lang="sr-Latn-RS" dirty="0">
                <a:solidFill>
                  <a:schemeClr val="dk1"/>
                </a:solidFill>
              </a:rPr>
              <a:t>Godina proizvodnje pozitivno utiče na cenu</a:t>
            </a:r>
          </a:p>
          <a:p>
            <a:pPr marL="457200" lvl="0" indent="-317500" algn="l" rtl="0">
              <a:spcBef>
                <a:spcPts val="0"/>
              </a:spcBef>
              <a:spcAft>
                <a:spcPts val="0"/>
              </a:spcAft>
              <a:buSzPts val="1400"/>
              <a:buChar char="●"/>
            </a:pPr>
            <a:r>
              <a:rPr lang="sr-Latn-RS" dirty="0">
                <a:solidFill>
                  <a:schemeClr val="dk1"/>
                </a:solidFill>
              </a:rPr>
              <a:t>Kilometraža negativno utiče na cenu</a:t>
            </a:r>
          </a:p>
          <a:p>
            <a:pPr marL="457200" lvl="0" indent="-317500" algn="l" rtl="0">
              <a:spcBef>
                <a:spcPts val="0"/>
              </a:spcBef>
              <a:spcAft>
                <a:spcPts val="0"/>
              </a:spcAft>
              <a:buSzPts val="1400"/>
              <a:buChar char="●"/>
            </a:pPr>
            <a:r>
              <a:rPr lang="sr-Latn-RS" dirty="0">
                <a:solidFill>
                  <a:schemeClr val="dk1"/>
                </a:solidFill>
              </a:rPr>
              <a:t>Kategorijske promenljive pokazuju razlike u cenama između grupa</a:t>
            </a:r>
            <a:endParaRPr dirty="0"/>
          </a:p>
        </p:txBody>
      </p:sp>
      <p:sp>
        <p:nvSpPr>
          <p:cNvPr id="560" name="Google Shape;560;p6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Eksplorativna analiza podataka</a:t>
            </a:r>
            <a:endParaRPr dirty="0"/>
          </a:p>
        </p:txBody>
      </p:sp>
      <p:sp>
        <p:nvSpPr>
          <p:cNvPr id="5" name="Rectangle 4">
            <a:extLst>
              <a:ext uri="{FF2B5EF4-FFF2-40B4-BE49-F238E27FC236}">
                <a16:creationId xmlns:a16="http://schemas.microsoft.com/office/drawing/2014/main" id="{0817C376-7372-25CA-A1AA-77B03CAF9E7E}"/>
              </a:ext>
            </a:extLst>
          </p:cNvPr>
          <p:cNvSpPr/>
          <p:nvPr/>
        </p:nvSpPr>
        <p:spPr>
          <a:xfrm>
            <a:off x="6686098" y="2578122"/>
            <a:ext cx="1185863" cy="344768"/>
          </a:xfrm>
          <a:prstGeom prst="rect">
            <a:avLst/>
          </a:prstGeom>
          <a:solidFill>
            <a:schemeClr val="tx2">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pic>
        <p:nvPicPr>
          <p:cNvPr id="7" name="Picture 6">
            <a:extLst>
              <a:ext uri="{FF2B5EF4-FFF2-40B4-BE49-F238E27FC236}">
                <a16:creationId xmlns:a16="http://schemas.microsoft.com/office/drawing/2014/main" id="{5D97C3AC-37D4-38DD-DE32-87E0B11F44D4}"/>
              </a:ext>
            </a:extLst>
          </p:cNvPr>
          <p:cNvPicPr>
            <a:picLocks noChangeAspect="1"/>
          </p:cNvPicPr>
          <p:nvPr/>
        </p:nvPicPr>
        <p:blipFill>
          <a:blip r:embed="rId3"/>
          <a:stretch>
            <a:fillRect/>
          </a:stretch>
        </p:blipFill>
        <p:spPr>
          <a:xfrm>
            <a:off x="5540716" y="1559206"/>
            <a:ext cx="3476625" cy="2381250"/>
          </a:xfrm>
          <a:prstGeom prst="rect">
            <a:avLst/>
          </a:prstGeom>
        </p:spPr>
      </p:pic>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6F92C0A8-57BF-03AF-B0FB-5DFB09A9B823}"/>
            </a:ext>
          </a:extLst>
        </p:cNvPr>
        <p:cNvGrpSpPr/>
        <p:nvPr/>
      </p:nvGrpSpPr>
      <p:grpSpPr>
        <a:xfrm>
          <a:off x="0" y="0"/>
          <a:ext cx="0" cy="0"/>
          <a:chOff x="0" y="0"/>
          <a:chExt cx="0" cy="0"/>
        </a:xfrm>
      </p:grpSpPr>
      <p:sp>
        <p:nvSpPr>
          <p:cNvPr id="593" name="Google Shape;593;p72">
            <a:extLst>
              <a:ext uri="{FF2B5EF4-FFF2-40B4-BE49-F238E27FC236}">
                <a16:creationId xmlns:a16="http://schemas.microsoft.com/office/drawing/2014/main" id="{B2D102BA-7683-AD3D-2C1B-55D67E6755B5}"/>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Provera linearnosti sa ciljnom promenljivom</a:t>
            </a:r>
            <a:endParaRPr dirty="0"/>
          </a:p>
        </p:txBody>
      </p:sp>
      <p:sp>
        <p:nvSpPr>
          <p:cNvPr id="7" name="Google Shape;603;p72">
            <a:extLst>
              <a:ext uri="{FF2B5EF4-FFF2-40B4-BE49-F238E27FC236}">
                <a16:creationId xmlns:a16="http://schemas.microsoft.com/office/drawing/2014/main" id="{5CB9A396-7EBC-74CC-8436-FF0F073A19D6}"/>
              </a:ext>
            </a:extLst>
          </p:cNvPr>
          <p:cNvSpPr txBox="1"/>
          <p:nvPr/>
        </p:nvSpPr>
        <p:spPr>
          <a:xfrm>
            <a:off x="5026371" y="1162865"/>
            <a:ext cx="3232904" cy="35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sr-Latn-RS" dirty="0">
                <a:solidFill>
                  <a:schemeClr val="dk1"/>
                </a:solidFill>
                <a:latin typeface="Vidaloka"/>
                <a:ea typeface="Vidaloka"/>
                <a:cs typeface="Vidaloka"/>
                <a:sym typeface="Vidaloka"/>
              </a:rPr>
              <a:t>Provera linearnosti – kilometraža i prodajna cena</a:t>
            </a:r>
            <a:endParaRPr dirty="0">
              <a:solidFill>
                <a:schemeClr val="dk1"/>
              </a:solidFill>
              <a:latin typeface="Vidaloka"/>
              <a:ea typeface="Vidaloka"/>
              <a:cs typeface="Vidaloka"/>
              <a:sym typeface="Vidaloka"/>
            </a:endParaRPr>
          </a:p>
        </p:txBody>
      </p:sp>
      <p:sp>
        <p:nvSpPr>
          <p:cNvPr id="15" name="Google Shape;602;p72">
            <a:extLst>
              <a:ext uri="{FF2B5EF4-FFF2-40B4-BE49-F238E27FC236}">
                <a16:creationId xmlns:a16="http://schemas.microsoft.com/office/drawing/2014/main" id="{9E6E1EF1-F7EB-BC0E-B9AF-4DE3FD407421}"/>
              </a:ext>
            </a:extLst>
          </p:cNvPr>
          <p:cNvSpPr txBox="1"/>
          <p:nvPr/>
        </p:nvSpPr>
        <p:spPr>
          <a:xfrm>
            <a:off x="1064709" y="1162865"/>
            <a:ext cx="342324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Provera linearnosti – godina i prodajna cena</a:t>
            </a:r>
            <a:endParaRPr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A290FEB8-7EAA-5DAE-0D18-198D926EBF29}"/>
              </a:ext>
            </a:extLst>
          </p:cNvPr>
          <p:cNvPicPr>
            <a:picLocks noChangeAspect="1"/>
          </p:cNvPicPr>
          <p:nvPr/>
        </p:nvPicPr>
        <p:blipFill>
          <a:blip r:embed="rId3"/>
          <a:stretch>
            <a:fillRect/>
          </a:stretch>
        </p:blipFill>
        <p:spPr>
          <a:xfrm>
            <a:off x="1167847" y="1665003"/>
            <a:ext cx="3226847" cy="2544599"/>
          </a:xfrm>
          <a:prstGeom prst="rect">
            <a:avLst/>
          </a:prstGeom>
        </p:spPr>
      </p:pic>
      <p:pic>
        <p:nvPicPr>
          <p:cNvPr id="8" name="Picture 7">
            <a:extLst>
              <a:ext uri="{FF2B5EF4-FFF2-40B4-BE49-F238E27FC236}">
                <a16:creationId xmlns:a16="http://schemas.microsoft.com/office/drawing/2014/main" id="{26DFDDCB-9441-B7AB-626F-ED5FFEBA5C18}"/>
              </a:ext>
            </a:extLst>
          </p:cNvPr>
          <p:cNvPicPr>
            <a:picLocks noChangeAspect="1"/>
          </p:cNvPicPr>
          <p:nvPr/>
        </p:nvPicPr>
        <p:blipFill>
          <a:blip r:embed="rId4"/>
          <a:stretch>
            <a:fillRect/>
          </a:stretch>
        </p:blipFill>
        <p:spPr>
          <a:xfrm>
            <a:off x="5026371" y="1665003"/>
            <a:ext cx="3237320" cy="2544598"/>
          </a:xfrm>
          <a:prstGeom prst="rect">
            <a:avLst/>
          </a:prstGeom>
        </p:spPr>
      </p:pic>
    </p:spTree>
    <p:extLst>
      <p:ext uri="{BB962C8B-B14F-4D97-AF65-F5344CB8AC3E}">
        <p14:creationId xmlns:p14="http://schemas.microsoft.com/office/powerpoint/2010/main" val="78235391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5"/>
          <p:cNvSpPr txBox="1">
            <a:spLocks noGrp="1"/>
          </p:cNvSpPr>
          <p:nvPr>
            <p:ph type="title"/>
          </p:nvPr>
        </p:nvSpPr>
        <p:spPr>
          <a:xfrm>
            <a:off x="1877475" y="445025"/>
            <a:ext cx="6427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sr-Latn-RS" dirty="0"/>
              <a:t>Pretprocesiranje podatka</a:t>
            </a:r>
            <a:endParaRPr dirty="0"/>
          </a:p>
        </p:txBody>
      </p:sp>
      <p:sp>
        <p:nvSpPr>
          <p:cNvPr id="644" name="Google Shape;644;p75"/>
          <p:cNvSpPr txBox="1">
            <a:spLocks noGrp="1"/>
          </p:cNvSpPr>
          <p:nvPr>
            <p:ph type="subTitle" idx="1"/>
          </p:nvPr>
        </p:nvSpPr>
        <p:spPr>
          <a:xfrm>
            <a:off x="3405465" y="2577766"/>
            <a:ext cx="2486100" cy="401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sr-Latn-RS" dirty="0"/>
              <a:t>OneHotEncoding</a:t>
            </a:r>
            <a:endParaRPr dirty="0"/>
          </a:p>
        </p:txBody>
      </p:sp>
      <p:sp>
        <p:nvSpPr>
          <p:cNvPr id="646" name="Google Shape;646;p75"/>
          <p:cNvSpPr txBox="1">
            <a:spLocks noGrp="1"/>
          </p:cNvSpPr>
          <p:nvPr>
            <p:ph type="subTitle" idx="3"/>
          </p:nvPr>
        </p:nvSpPr>
        <p:spPr>
          <a:xfrm>
            <a:off x="709936" y="1578013"/>
            <a:ext cx="5181630" cy="401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sr-Latn-RS" dirty="0"/>
              <a:t>Popunjavanje nedostajućih podataka</a:t>
            </a:r>
            <a:endParaRPr dirty="0"/>
          </a:p>
        </p:txBody>
      </p:sp>
      <p:sp>
        <p:nvSpPr>
          <p:cNvPr id="649" name="Google Shape;649;p75"/>
          <p:cNvSpPr txBox="1">
            <a:spLocks noGrp="1"/>
          </p:cNvSpPr>
          <p:nvPr>
            <p:ph type="subTitle" idx="6"/>
          </p:nvPr>
        </p:nvSpPr>
        <p:spPr>
          <a:xfrm>
            <a:off x="3405465" y="3136066"/>
            <a:ext cx="2486100" cy="61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sr-Latn-RS" i="1" dirty="0"/>
              <a:t>oneHotEncoding</a:t>
            </a:r>
            <a:endParaRPr i="1" dirty="0"/>
          </a:p>
        </p:txBody>
      </p:sp>
      <p:sp>
        <p:nvSpPr>
          <p:cNvPr id="651" name="Google Shape;651;p75"/>
          <p:cNvSpPr txBox="1">
            <a:spLocks noGrp="1"/>
          </p:cNvSpPr>
          <p:nvPr>
            <p:ph type="subTitle" idx="8"/>
          </p:nvPr>
        </p:nvSpPr>
        <p:spPr>
          <a:xfrm>
            <a:off x="3800476" y="2097098"/>
            <a:ext cx="2091090" cy="61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sr-Latn-RS" i="1" dirty="0"/>
              <a:t>handleMissedValues</a:t>
            </a:r>
            <a:endParaRPr i="1" dirty="0"/>
          </a:p>
        </p:txBody>
      </p:sp>
      <p:pic>
        <p:nvPicPr>
          <p:cNvPr id="9" name="Picture 8">
            <a:extLst>
              <a:ext uri="{FF2B5EF4-FFF2-40B4-BE49-F238E27FC236}">
                <a16:creationId xmlns:a16="http://schemas.microsoft.com/office/drawing/2014/main" id="{5E7C553F-ABBE-8B4E-2806-97F8FF2CC812}"/>
              </a:ext>
            </a:extLst>
          </p:cNvPr>
          <p:cNvPicPr>
            <a:picLocks noChangeAspect="1"/>
          </p:cNvPicPr>
          <p:nvPr/>
        </p:nvPicPr>
        <p:blipFill>
          <a:blip r:embed="rId3"/>
          <a:stretch>
            <a:fillRect/>
          </a:stretch>
        </p:blipFill>
        <p:spPr>
          <a:xfrm>
            <a:off x="6048786" y="1688459"/>
            <a:ext cx="2583572" cy="1766581"/>
          </a:xfrm>
          <a:prstGeom prst="rect">
            <a:avLst/>
          </a:prstGeom>
        </p:spPr>
      </p:pic>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8" name="Google Shape;878;p89"/>
          <p:cNvSpPr txBox="1">
            <a:spLocks noGrp="1"/>
          </p:cNvSpPr>
          <p:nvPr>
            <p:ph type="subTitle" idx="1"/>
          </p:nvPr>
        </p:nvSpPr>
        <p:spPr>
          <a:xfrm>
            <a:off x="5168049" y="1607233"/>
            <a:ext cx="3368731" cy="1929034"/>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Clr>
                <a:schemeClr val="dk1"/>
              </a:buClr>
              <a:buSzPts val="1100"/>
              <a:buFont typeface="Arial"/>
              <a:buNone/>
            </a:pPr>
            <a:r>
              <a:rPr lang="sr-Latn-RS" i="1" dirty="0"/>
              <a:t>handleMissedValues</a:t>
            </a:r>
            <a:r>
              <a:rPr lang="sr-Latn-RS" dirty="0"/>
              <a:t> – nedostajuće vrednosti se popunjavaju aritmetičkom sredinom kolone ili najčešćom vrednošću.</a:t>
            </a:r>
          </a:p>
          <a:p>
            <a:pPr marL="0" lvl="0" indent="0" algn="l" rtl="0">
              <a:spcBef>
                <a:spcPts val="0"/>
              </a:spcBef>
              <a:spcAft>
                <a:spcPts val="1000"/>
              </a:spcAft>
              <a:buClr>
                <a:schemeClr val="dk1"/>
              </a:buClr>
              <a:buSzPts val="1100"/>
              <a:buFont typeface="Arial"/>
              <a:buNone/>
            </a:pPr>
            <a:r>
              <a:rPr lang="sr-Latn-RS" i="1" dirty="0"/>
              <a:t>oneHotEncoding</a:t>
            </a:r>
            <a:r>
              <a:rPr lang="sr-Latn-RS" dirty="0"/>
              <a:t> – pretvara kategorijske promenljive u numeričke i odvaja ulazne podatke od ciljne promenljive.</a:t>
            </a:r>
            <a:endParaRPr dirty="0"/>
          </a:p>
        </p:txBody>
      </p:sp>
      <p:pic>
        <p:nvPicPr>
          <p:cNvPr id="3" name="Picture 2">
            <a:extLst>
              <a:ext uri="{FF2B5EF4-FFF2-40B4-BE49-F238E27FC236}">
                <a16:creationId xmlns:a16="http://schemas.microsoft.com/office/drawing/2014/main" id="{6B969EDB-654C-655A-574C-464C801D344F}"/>
              </a:ext>
            </a:extLst>
          </p:cNvPr>
          <p:cNvPicPr>
            <a:picLocks noChangeAspect="1"/>
          </p:cNvPicPr>
          <p:nvPr/>
        </p:nvPicPr>
        <p:blipFill>
          <a:blip r:embed="rId3"/>
          <a:stretch>
            <a:fillRect/>
          </a:stretch>
        </p:blipFill>
        <p:spPr>
          <a:xfrm>
            <a:off x="1019600" y="1709087"/>
            <a:ext cx="3831006" cy="1827180"/>
          </a:xfrm>
          <a:prstGeom prst="rect">
            <a:avLst/>
          </a:prstGeom>
        </p:spPr>
      </p:pic>
      <p:sp>
        <p:nvSpPr>
          <p:cNvPr id="4" name="Google Shape;643;p75">
            <a:extLst>
              <a:ext uri="{FF2B5EF4-FFF2-40B4-BE49-F238E27FC236}">
                <a16:creationId xmlns:a16="http://schemas.microsoft.com/office/drawing/2014/main" id="{C278E5CD-6294-B66C-22E8-ACFB8A294B5B}"/>
              </a:ext>
            </a:extLst>
          </p:cNvPr>
          <p:cNvSpPr txBox="1">
            <a:spLocks noGrp="1"/>
          </p:cNvSpPr>
          <p:nvPr>
            <p:ph type="title"/>
          </p:nvPr>
        </p:nvSpPr>
        <p:spPr>
          <a:xfrm>
            <a:off x="1877475" y="445025"/>
            <a:ext cx="6427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sr-Latn-RS" dirty="0"/>
              <a:t>Pretprocesiranje podatka</a:t>
            </a:r>
            <a:endParaRPr dirty="0"/>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7754F1B2-1C45-E2A6-78EE-602AA9FF2D10}"/>
            </a:ext>
          </a:extLst>
        </p:cNvPr>
        <p:cNvGrpSpPr/>
        <p:nvPr/>
      </p:nvGrpSpPr>
      <p:grpSpPr>
        <a:xfrm>
          <a:off x="0" y="0"/>
          <a:ext cx="0" cy="0"/>
          <a:chOff x="0" y="0"/>
          <a:chExt cx="0" cy="0"/>
        </a:xfrm>
      </p:grpSpPr>
      <p:sp>
        <p:nvSpPr>
          <p:cNvPr id="540" name="Google Shape;540;p64">
            <a:extLst>
              <a:ext uri="{FF2B5EF4-FFF2-40B4-BE49-F238E27FC236}">
                <a16:creationId xmlns:a16="http://schemas.microsoft.com/office/drawing/2014/main" id="{7B198E7C-03A7-C992-6D2C-A7E381C62BAC}"/>
              </a:ext>
            </a:extLst>
          </p:cNvPr>
          <p:cNvSpPr txBox="1">
            <a:spLocks noGrp="1"/>
          </p:cNvSpPr>
          <p:nvPr>
            <p:ph type="title"/>
          </p:nvPr>
        </p:nvSpPr>
        <p:spPr>
          <a:xfrm>
            <a:off x="2039540" y="3050213"/>
            <a:ext cx="6993731" cy="49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a:t>
            </a:r>
            <a:r>
              <a:rPr lang="sr-Latn-RS" i="1" dirty="0"/>
              <a:t>Važnost pretprocesiranja podataka</a:t>
            </a:r>
            <a:endParaRPr i="1" dirty="0"/>
          </a:p>
        </p:txBody>
      </p:sp>
      <p:sp>
        <p:nvSpPr>
          <p:cNvPr id="541" name="Google Shape;541;p64">
            <a:extLst>
              <a:ext uri="{FF2B5EF4-FFF2-40B4-BE49-F238E27FC236}">
                <a16:creationId xmlns:a16="http://schemas.microsoft.com/office/drawing/2014/main" id="{DF8B83B0-186C-9AEA-812D-39FAA86F3458}"/>
              </a:ext>
            </a:extLst>
          </p:cNvPr>
          <p:cNvSpPr txBox="1">
            <a:spLocks noGrp="1"/>
          </p:cNvSpPr>
          <p:nvPr>
            <p:ph type="subTitle" idx="1"/>
          </p:nvPr>
        </p:nvSpPr>
        <p:spPr>
          <a:xfrm>
            <a:off x="153589" y="1561950"/>
            <a:ext cx="6993731" cy="1324126"/>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sr-Latn-RS" i="1" dirty="0"/>
              <a:t>	Pretprocesiranje podataka je važno jer obezbeđuje da model uči iz kvalitetnih, uporedivih i pravilno pripremljenih podataka, što direktno utiče na tačnost i pouzdanost predikcije.</a:t>
            </a:r>
            <a:endParaRPr i="1" dirty="0"/>
          </a:p>
        </p:txBody>
      </p:sp>
    </p:spTree>
    <p:extLst>
      <p:ext uri="{BB962C8B-B14F-4D97-AF65-F5344CB8AC3E}">
        <p14:creationId xmlns:p14="http://schemas.microsoft.com/office/powerpoint/2010/main" val="1180538953"/>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A126A771-2097-92AB-EDCE-0A7875E60354}"/>
            </a:ext>
          </a:extLst>
        </p:cNvPr>
        <p:cNvGrpSpPr/>
        <p:nvPr/>
      </p:nvGrpSpPr>
      <p:grpSpPr>
        <a:xfrm>
          <a:off x="0" y="0"/>
          <a:ext cx="0" cy="0"/>
          <a:chOff x="0" y="0"/>
          <a:chExt cx="0" cy="0"/>
        </a:xfrm>
      </p:grpSpPr>
      <p:sp>
        <p:nvSpPr>
          <p:cNvPr id="552" name="Google Shape;552;p66">
            <a:extLst>
              <a:ext uri="{FF2B5EF4-FFF2-40B4-BE49-F238E27FC236}">
                <a16:creationId xmlns:a16="http://schemas.microsoft.com/office/drawing/2014/main" id="{D86A8BCC-9986-957D-AEDD-86AE38113C54}"/>
              </a:ext>
            </a:extLst>
          </p:cNvPr>
          <p:cNvSpPr txBox="1">
            <a:spLocks noGrp="1"/>
          </p:cNvSpPr>
          <p:nvPr>
            <p:ph type="subTitle" idx="1"/>
          </p:nvPr>
        </p:nvSpPr>
        <p:spPr>
          <a:xfrm>
            <a:off x="713225" y="1335650"/>
            <a:ext cx="4644588" cy="14289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Rezidual = stvarna cena – prediktovana cena</a:t>
            </a:r>
            <a:endParaRPr lang="en-US" dirty="0"/>
          </a:p>
          <a:p>
            <a:pPr marL="457200" lvl="0" indent="-317500" algn="l" rtl="0">
              <a:spcBef>
                <a:spcPts val="1000"/>
              </a:spcBef>
              <a:spcAft>
                <a:spcPts val="0"/>
              </a:spcAft>
              <a:buSzPts val="1400"/>
              <a:buChar char="●"/>
            </a:pPr>
            <a:r>
              <a:rPr lang="sr-Latn-RS" dirty="0"/>
              <a:t>Pokazuju grešku modela</a:t>
            </a:r>
            <a:endParaRPr dirty="0"/>
          </a:p>
          <a:p>
            <a:pPr marL="457200" lvl="0" indent="-317500" algn="l" rtl="0">
              <a:spcBef>
                <a:spcPts val="0"/>
              </a:spcBef>
              <a:spcAft>
                <a:spcPts val="0"/>
              </a:spcAft>
              <a:buSzPts val="1400"/>
              <a:buChar char="●"/>
            </a:pPr>
            <a:r>
              <a:rPr lang="sr-Latn-RS" dirty="0"/>
              <a:t>Proveravaju pretpostavke linearne regresije</a:t>
            </a:r>
            <a:endParaRPr dirty="0"/>
          </a:p>
          <a:p>
            <a:pPr marL="457200" lvl="0" indent="-317500" algn="l" rtl="0">
              <a:spcBef>
                <a:spcPts val="0"/>
              </a:spcBef>
              <a:spcAft>
                <a:spcPts val="0"/>
              </a:spcAft>
              <a:buSzPts val="1400"/>
              <a:buChar char="●"/>
            </a:pPr>
            <a:r>
              <a:rPr lang="sr-Latn-RS" dirty="0"/>
              <a:t>Otkrivaju loš model ili pogrešne pretpostavke</a:t>
            </a:r>
          </a:p>
        </p:txBody>
      </p:sp>
      <p:sp>
        <p:nvSpPr>
          <p:cNvPr id="553" name="Google Shape;553;p66">
            <a:extLst>
              <a:ext uri="{FF2B5EF4-FFF2-40B4-BE49-F238E27FC236}">
                <a16:creationId xmlns:a16="http://schemas.microsoft.com/office/drawing/2014/main" id="{94B7D673-E6C0-60BB-4F75-6D31E54098B7}"/>
              </a:ext>
            </a:extLst>
          </p:cNvPr>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Distribucija reziduala</a:t>
            </a:r>
            <a:endParaRPr dirty="0"/>
          </a:p>
        </p:txBody>
      </p:sp>
      <p:pic>
        <p:nvPicPr>
          <p:cNvPr id="3" name="Picture 2">
            <a:extLst>
              <a:ext uri="{FF2B5EF4-FFF2-40B4-BE49-F238E27FC236}">
                <a16:creationId xmlns:a16="http://schemas.microsoft.com/office/drawing/2014/main" id="{23D8AA52-DD42-10BD-C6A2-3515339E9E2A}"/>
              </a:ext>
            </a:extLst>
          </p:cNvPr>
          <p:cNvPicPr>
            <a:picLocks noChangeAspect="1"/>
          </p:cNvPicPr>
          <p:nvPr/>
        </p:nvPicPr>
        <p:blipFill>
          <a:blip r:embed="rId3"/>
          <a:stretch>
            <a:fillRect/>
          </a:stretch>
        </p:blipFill>
        <p:spPr>
          <a:xfrm>
            <a:off x="713226" y="2936082"/>
            <a:ext cx="4644588" cy="1773679"/>
          </a:xfrm>
          <a:prstGeom prst="rect">
            <a:avLst/>
          </a:prstGeom>
        </p:spPr>
      </p:pic>
      <p:pic>
        <p:nvPicPr>
          <p:cNvPr id="6" name="Picture 5">
            <a:extLst>
              <a:ext uri="{FF2B5EF4-FFF2-40B4-BE49-F238E27FC236}">
                <a16:creationId xmlns:a16="http://schemas.microsoft.com/office/drawing/2014/main" id="{EF3F4F43-EB54-6414-7B34-27D143C0D590}"/>
              </a:ext>
            </a:extLst>
          </p:cNvPr>
          <p:cNvPicPr>
            <a:picLocks noChangeAspect="1"/>
          </p:cNvPicPr>
          <p:nvPr/>
        </p:nvPicPr>
        <p:blipFill>
          <a:blip r:embed="rId4"/>
          <a:stretch>
            <a:fillRect/>
          </a:stretch>
        </p:blipFill>
        <p:spPr>
          <a:xfrm>
            <a:off x="5729288" y="1507100"/>
            <a:ext cx="2917556" cy="2279088"/>
          </a:xfrm>
          <a:prstGeom prst="rect">
            <a:avLst/>
          </a:prstGeom>
        </p:spPr>
      </p:pic>
    </p:spTree>
    <p:extLst>
      <p:ext uri="{BB962C8B-B14F-4D97-AF65-F5344CB8AC3E}">
        <p14:creationId xmlns:p14="http://schemas.microsoft.com/office/powerpoint/2010/main" val="164752881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1E7F14D0-4B18-C1C7-EE6C-BE30C3CF355B}"/>
            </a:ext>
          </a:extLst>
        </p:cNvPr>
        <p:cNvGrpSpPr/>
        <p:nvPr/>
      </p:nvGrpSpPr>
      <p:grpSpPr>
        <a:xfrm>
          <a:off x="0" y="0"/>
          <a:ext cx="0" cy="0"/>
          <a:chOff x="0" y="0"/>
          <a:chExt cx="0" cy="0"/>
        </a:xfrm>
      </p:grpSpPr>
      <p:sp>
        <p:nvSpPr>
          <p:cNvPr id="552" name="Google Shape;552;p66">
            <a:extLst>
              <a:ext uri="{FF2B5EF4-FFF2-40B4-BE49-F238E27FC236}">
                <a16:creationId xmlns:a16="http://schemas.microsoft.com/office/drawing/2014/main" id="{6C228478-96B1-5FE7-6CC7-3D27A4F6AC64}"/>
              </a:ext>
            </a:extLst>
          </p:cNvPr>
          <p:cNvSpPr txBox="1">
            <a:spLocks noGrp="1"/>
          </p:cNvSpPr>
          <p:nvPr>
            <p:ph type="subTitle" idx="1"/>
          </p:nvPr>
        </p:nvSpPr>
        <p:spPr>
          <a:xfrm>
            <a:off x="713224" y="1221581"/>
            <a:ext cx="7280632" cy="166134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sr-Latn-RS" dirty="0"/>
              <a:t>Kako izgleda zavisnost naše ciljne promenljive od više atributa?</a:t>
            </a:r>
          </a:p>
          <a:p>
            <a:pPr marL="285750" lvl="0" indent="-285750" algn="l" rtl="0">
              <a:spcBef>
                <a:spcPts val="0"/>
              </a:spcBef>
              <a:spcAft>
                <a:spcPts val="0"/>
              </a:spcAft>
              <a:buFontTx/>
              <a:buChar char="-"/>
            </a:pPr>
            <a:r>
              <a:rPr lang="sr-Latn-RS" dirty="0"/>
              <a:t>Skup podataka smo podelili na trening, validacioni i test skup u odnosu 60/20/20</a:t>
            </a:r>
          </a:p>
          <a:p>
            <a:pPr marL="285750" lvl="0" indent="-285750" algn="l" rtl="0">
              <a:spcBef>
                <a:spcPts val="0"/>
              </a:spcBef>
              <a:spcAft>
                <a:spcPts val="0"/>
              </a:spcAft>
              <a:buFontTx/>
              <a:buChar char="-"/>
            </a:pPr>
            <a:r>
              <a:rPr lang="sr-Latn-RS" dirty="0"/>
              <a:t>Za evaluaciju performansi koristimo R</a:t>
            </a:r>
            <a:r>
              <a:rPr lang="sr-Latn-RS" baseline="30000" dirty="0"/>
              <a:t>2</a:t>
            </a:r>
            <a:r>
              <a:rPr lang="sr-Latn-RS" dirty="0"/>
              <a:t>, MSE, RMSE</a:t>
            </a:r>
          </a:p>
          <a:p>
            <a:pPr marL="285750" lvl="0" indent="-285750">
              <a:buFontTx/>
              <a:buChar char="-"/>
            </a:pPr>
            <a:r>
              <a:rPr lang="sr-Latn-RS" dirty="0"/>
              <a:t>Matematički model: </a:t>
            </a:r>
            <a:r>
              <a:rPr lang="en-US" dirty="0" err="1"/>
              <a:t>selling_price</a:t>
            </a:r>
            <a:r>
              <a:rPr lang="sr-Latn-RS" dirty="0"/>
              <a:t> </a:t>
            </a:r>
            <a:r>
              <a:rPr lang="en-US" dirty="0"/>
              <a:t>=</a:t>
            </a:r>
            <a:r>
              <a:rPr lang="sr-Latn-RS" dirty="0"/>
              <a:t> </a:t>
            </a:r>
            <a:r>
              <a:rPr lang="el-GR" dirty="0"/>
              <a:t>β0</a:t>
            </a:r>
            <a:r>
              <a:rPr lang="sr-Latn-RS" dirty="0"/>
              <a:t> </a:t>
            </a:r>
            <a:r>
              <a:rPr lang="el-GR" dirty="0"/>
              <a:t>​+</a:t>
            </a:r>
            <a:r>
              <a:rPr lang="sr-Latn-RS" dirty="0"/>
              <a:t> </a:t>
            </a:r>
            <a:r>
              <a:rPr lang="el-GR" dirty="0"/>
              <a:t>β1​⋅</a:t>
            </a:r>
            <a:r>
              <a:rPr lang="en-US" dirty="0"/>
              <a:t>year</a:t>
            </a:r>
            <a:r>
              <a:rPr lang="sr-Latn-RS" dirty="0"/>
              <a:t> </a:t>
            </a:r>
            <a:r>
              <a:rPr lang="en-US" dirty="0"/>
              <a:t>+</a:t>
            </a:r>
            <a:r>
              <a:rPr lang="sr-Latn-RS" dirty="0"/>
              <a:t> </a:t>
            </a:r>
            <a:r>
              <a:rPr lang="el-GR" dirty="0"/>
              <a:t>β2​⋅</a:t>
            </a:r>
            <a:r>
              <a:rPr lang="en-US" dirty="0" err="1"/>
              <a:t>km_driven</a:t>
            </a:r>
            <a:r>
              <a:rPr lang="sr-Latn-RS" dirty="0"/>
              <a:t> </a:t>
            </a:r>
            <a:r>
              <a:rPr lang="en-US" dirty="0"/>
              <a:t>+⋯+</a:t>
            </a:r>
            <a:r>
              <a:rPr lang="sr-Latn-RS" dirty="0"/>
              <a:t> </a:t>
            </a:r>
            <a:r>
              <a:rPr lang="el-GR" dirty="0"/>
              <a:t>β</a:t>
            </a:r>
            <a:r>
              <a:rPr lang="en-US" dirty="0"/>
              <a:t>n​⋅</a:t>
            </a:r>
            <a:r>
              <a:rPr lang="en-US" dirty="0" err="1"/>
              <a:t>xn</a:t>
            </a:r>
            <a:r>
              <a:rPr lang="en-US" dirty="0"/>
              <a:t>​</a:t>
            </a:r>
            <a:r>
              <a:rPr lang="sr-Latn-RS" dirty="0"/>
              <a:t> </a:t>
            </a:r>
            <a:r>
              <a:rPr lang="en-US" dirty="0"/>
              <a:t>+</a:t>
            </a:r>
            <a:r>
              <a:rPr lang="sr-Latn-RS" dirty="0"/>
              <a:t> </a:t>
            </a:r>
            <a:r>
              <a:rPr lang="el-GR" dirty="0"/>
              <a:t>ε</a:t>
            </a:r>
            <a:endParaRPr lang="sr-Latn-RS" baseline="30000" dirty="0"/>
          </a:p>
          <a:p>
            <a:pPr marL="285750" lvl="0" indent="-285750" algn="l" rtl="0">
              <a:spcBef>
                <a:spcPts val="0"/>
              </a:spcBef>
              <a:spcAft>
                <a:spcPts val="0"/>
              </a:spcAft>
              <a:buFontTx/>
              <a:buChar char="-"/>
            </a:pPr>
            <a:endParaRPr lang="sr-Latn-RS" dirty="0"/>
          </a:p>
          <a:p>
            <a:pPr marL="0" lvl="0" indent="0" algn="l" rtl="0">
              <a:spcBef>
                <a:spcPts val="0"/>
              </a:spcBef>
              <a:spcAft>
                <a:spcPts val="0"/>
              </a:spcAft>
              <a:buNone/>
            </a:pPr>
            <a:endParaRPr lang="sr-Latn-RS" dirty="0"/>
          </a:p>
        </p:txBody>
      </p:sp>
      <p:sp>
        <p:nvSpPr>
          <p:cNvPr id="553" name="Google Shape;553;p66">
            <a:extLst>
              <a:ext uri="{FF2B5EF4-FFF2-40B4-BE49-F238E27FC236}">
                <a16:creationId xmlns:a16="http://schemas.microsoft.com/office/drawing/2014/main" id="{98E618CD-3649-A0DD-4D98-197569DF1155}"/>
              </a:ext>
            </a:extLst>
          </p:cNvPr>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Višestruka linearna regresija</a:t>
            </a:r>
            <a:endParaRPr dirty="0"/>
          </a:p>
        </p:txBody>
      </p:sp>
      <p:pic>
        <p:nvPicPr>
          <p:cNvPr id="4" name="Picture 3">
            <a:extLst>
              <a:ext uri="{FF2B5EF4-FFF2-40B4-BE49-F238E27FC236}">
                <a16:creationId xmlns:a16="http://schemas.microsoft.com/office/drawing/2014/main" id="{4D8AC925-720D-50F8-FB09-D0B2FCA5F06E}"/>
              </a:ext>
            </a:extLst>
          </p:cNvPr>
          <p:cNvPicPr>
            <a:picLocks noChangeAspect="1"/>
          </p:cNvPicPr>
          <p:nvPr/>
        </p:nvPicPr>
        <p:blipFill>
          <a:blip r:embed="rId3"/>
          <a:stretch>
            <a:fillRect/>
          </a:stretch>
        </p:blipFill>
        <p:spPr>
          <a:xfrm>
            <a:off x="760914" y="2711477"/>
            <a:ext cx="7185251" cy="1489048"/>
          </a:xfrm>
          <a:prstGeom prst="rect">
            <a:avLst/>
          </a:prstGeom>
        </p:spPr>
      </p:pic>
    </p:spTree>
    <p:extLst>
      <p:ext uri="{BB962C8B-B14F-4D97-AF65-F5344CB8AC3E}">
        <p14:creationId xmlns:p14="http://schemas.microsoft.com/office/powerpoint/2010/main" val="970525606"/>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75F0D0F2-DAE7-F050-6982-31D78429D1AF}"/>
            </a:ext>
          </a:extLst>
        </p:cNvPr>
        <p:cNvGrpSpPr/>
        <p:nvPr/>
      </p:nvGrpSpPr>
      <p:grpSpPr>
        <a:xfrm>
          <a:off x="0" y="0"/>
          <a:ext cx="0" cy="0"/>
          <a:chOff x="0" y="0"/>
          <a:chExt cx="0" cy="0"/>
        </a:xfrm>
      </p:grpSpPr>
      <p:sp>
        <p:nvSpPr>
          <p:cNvPr id="552" name="Google Shape;552;p66">
            <a:extLst>
              <a:ext uri="{FF2B5EF4-FFF2-40B4-BE49-F238E27FC236}">
                <a16:creationId xmlns:a16="http://schemas.microsoft.com/office/drawing/2014/main" id="{96404F59-4D0F-722F-B625-8F441114A5F9}"/>
              </a:ext>
            </a:extLst>
          </p:cNvPr>
          <p:cNvSpPr txBox="1">
            <a:spLocks noGrp="1"/>
          </p:cNvSpPr>
          <p:nvPr>
            <p:ph type="subTitle" idx="1"/>
          </p:nvPr>
        </p:nvSpPr>
        <p:spPr>
          <a:xfrm>
            <a:off x="713224" y="1221581"/>
            <a:ext cx="7280632" cy="166134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sr-Latn-RS" dirty="0"/>
              <a:t>Numerički atributi se dovode na istu skalu a skaliranje se fituje samo na trening skupu</a:t>
            </a:r>
          </a:p>
          <a:p>
            <a:pPr marL="285750" lvl="0" indent="-285750" algn="l" rtl="0">
              <a:spcBef>
                <a:spcPts val="0"/>
              </a:spcBef>
              <a:spcAft>
                <a:spcPts val="0"/>
              </a:spcAft>
              <a:buFontTx/>
              <a:buChar char="-"/>
            </a:pPr>
            <a:r>
              <a:rPr lang="sr-Latn-RS" dirty="0"/>
              <a:t>Isti parametri se koriste za validacioni i test skup i izbegava se data leakage</a:t>
            </a:r>
          </a:p>
          <a:p>
            <a:pPr marL="285750" lvl="0" indent="-285750" algn="l" rtl="0">
              <a:spcBef>
                <a:spcPts val="0"/>
              </a:spcBef>
              <a:spcAft>
                <a:spcPts val="0"/>
              </a:spcAft>
              <a:buFontTx/>
              <a:buChar char="-"/>
            </a:pPr>
            <a:r>
              <a:rPr lang="sr-Latn-RS" dirty="0"/>
              <a:t>Evaluacijom računamo vrednosti metrika nad skupovima</a:t>
            </a:r>
          </a:p>
          <a:p>
            <a:pPr marL="0" lvl="0" indent="0" algn="l" rtl="0">
              <a:spcBef>
                <a:spcPts val="0"/>
              </a:spcBef>
              <a:spcAft>
                <a:spcPts val="0"/>
              </a:spcAft>
              <a:buNone/>
            </a:pPr>
            <a:endParaRPr lang="sr-Latn-RS" dirty="0"/>
          </a:p>
        </p:txBody>
      </p:sp>
      <p:sp>
        <p:nvSpPr>
          <p:cNvPr id="553" name="Google Shape;553;p66">
            <a:extLst>
              <a:ext uri="{FF2B5EF4-FFF2-40B4-BE49-F238E27FC236}">
                <a16:creationId xmlns:a16="http://schemas.microsoft.com/office/drawing/2014/main" id="{22ECE2B9-2F21-0CD1-3556-6362B021E84D}"/>
              </a:ext>
            </a:extLst>
          </p:cNvPr>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Višestruka linearna regresija</a:t>
            </a:r>
            <a:endParaRPr dirty="0"/>
          </a:p>
        </p:txBody>
      </p:sp>
      <p:pic>
        <p:nvPicPr>
          <p:cNvPr id="3" name="Picture 2">
            <a:extLst>
              <a:ext uri="{FF2B5EF4-FFF2-40B4-BE49-F238E27FC236}">
                <a16:creationId xmlns:a16="http://schemas.microsoft.com/office/drawing/2014/main" id="{DC561454-0E6A-AF10-ABA3-C7527CE4E715}"/>
              </a:ext>
            </a:extLst>
          </p:cNvPr>
          <p:cNvPicPr>
            <a:picLocks noChangeAspect="1"/>
          </p:cNvPicPr>
          <p:nvPr/>
        </p:nvPicPr>
        <p:blipFill>
          <a:blip r:embed="rId3"/>
          <a:stretch>
            <a:fillRect/>
          </a:stretch>
        </p:blipFill>
        <p:spPr>
          <a:xfrm>
            <a:off x="1091843" y="2446447"/>
            <a:ext cx="5467956" cy="1956700"/>
          </a:xfrm>
          <a:prstGeom prst="rect">
            <a:avLst/>
          </a:prstGeom>
        </p:spPr>
      </p:pic>
    </p:spTree>
    <p:extLst>
      <p:ext uri="{BB962C8B-B14F-4D97-AF65-F5344CB8AC3E}">
        <p14:creationId xmlns:p14="http://schemas.microsoft.com/office/powerpoint/2010/main" val="120975855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F8FCDBD9-3203-8E57-F5C3-341D8AC9C86E}"/>
            </a:ext>
          </a:extLst>
        </p:cNvPr>
        <p:cNvGrpSpPr/>
        <p:nvPr/>
      </p:nvGrpSpPr>
      <p:grpSpPr>
        <a:xfrm>
          <a:off x="0" y="0"/>
          <a:ext cx="0" cy="0"/>
          <a:chOff x="0" y="0"/>
          <a:chExt cx="0" cy="0"/>
        </a:xfrm>
      </p:grpSpPr>
      <p:sp>
        <p:nvSpPr>
          <p:cNvPr id="552" name="Google Shape;552;p66">
            <a:extLst>
              <a:ext uri="{FF2B5EF4-FFF2-40B4-BE49-F238E27FC236}">
                <a16:creationId xmlns:a16="http://schemas.microsoft.com/office/drawing/2014/main" id="{3BDBCD59-95A4-2063-D939-12D0D2E24B84}"/>
              </a:ext>
            </a:extLst>
          </p:cNvPr>
          <p:cNvSpPr txBox="1">
            <a:spLocks noGrp="1"/>
          </p:cNvSpPr>
          <p:nvPr>
            <p:ph type="subTitle" idx="1"/>
          </p:nvPr>
        </p:nvSpPr>
        <p:spPr>
          <a:xfrm>
            <a:off x="520344" y="1610916"/>
            <a:ext cx="4644588" cy="1428982"/>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sr-Latn-RS" dirty="0"/>
              <a:t>Model objašnjava približno 45% varijanse cene automobila</a:t>
            </a:r>
          </a:p>
          <a:p>
            <a:pPr marL="285750" lvl="0" indent="-285750" algn="l" rtl="0">
              <a:spcBef>
                <a:spcPts val="0"/>
              </a:spcBef>
              <a:spcAft>
                <a:spcPts val="0"/>
              </a:spcAft>
              <a:buFontTx/>
              <a:buChar char="-"/>
            </a:pPr>
            <a:r>
              <a:rPr lang="sr-Latn-RS" dirty="0"/>
              <a:t>Slične vrednosti R</a:t>
            </a:r>
            <a:r>
              <a:rPr lang="sr-Latn-RS" baseline="30000" dirty="0"/>
              <a:t>2</a:t>
            </a:r>
            <a:r>
              <a:rPr lang="sr-Latn-RS" dirty="0"/>
              <a:t> na trening, validacionom i test skupu ukazuju na odsustvo overfittinga</a:t>
            </a:r>
          </a:p>
          <a:p>
            <a:pPr marL="285750" lvl="0" indent="-285750" algn="l" rtl="0">
              <a:spcBef>
                <a:spcPts val="0"/>
              </a:spcBef>
              <a:spcAft>
                <a:spcPts val="0"/>
              </a:spcAft>
              <a:buFontTx/>
              <a:buChar char="-"/>
            </a:pPr>
            <a:r>
              <a:rPr lang="sr-Latn-RS" dirty="0"/>
              <a:t>RMSE ukazuje na umerenu tačnost modela</a:t>
            </a:r>
          </a:p>
          <a:p>
            <a:pPr marL="285750" lvl="0" indent="-285750" algn="l" rtl="0">
              <a:spcBef>
                <a:spcPts val="0"/>
              </a:spcBef>
              <a:spcAft>
                <a:spcPts val="0"/>
              </a:spcAft>
              <a:buFontTx/>
              <a:buChar char="-"/>
            </a:pPr>
            <a:endParaRPr lang="sr-Latn-RS" dirty="0"/>
          </a:p>
          <a:p>
            <a:pPr marL="285750" lvl="0" indent="-285750" algn="l" rtl="0">
              <a:spcBef>
                <a:spcPts val="0"/>
              </a:spcBef>
              <a:spcAft>
                <a:spcPts val="0"/>
              </a:spcAft>
              <a:buFontTx/>
              <a:buChar char="-"/>
            </a:pPr>
            <a:r>
              <a:rPr lang="sr-Latn-RS" dirty="0"/>
              <a:t>Godina proizvodnje ima pozitivan uticaj na cenu</a:t>
            </a:r>
          </a:p>
          <a:p>
            <a:pPr marL="285750" lvl="0" indent="-285750" algn="l" rtl="0">
              <a:spcBef>
                <a:spcPts val="0"/>
              </a:spcBef>
              <a:spcAft>
                <a:spcPts val="0"/>
              </a:spcAft>
              <a:buFontTx/>
              <a:buChar char="-"/>
            </a:pPr>
            <a:r>
              <a:rPr lang="sr-Latn-RS" dirty="0"/>
              <a:t>Pređena kilometraža ima negativan uticaj</a:t>
            </a:r>
          </a:p>
          <a:p>
            <a:pPr marL="285750" lvl="0" indent="-285750" algn="l" rtl="0">
              <a:spcBef>
                <a:spcPts val="0"/>
              </a:spcBef>
              <a:spcAft>
                <a:spcPts val="0"/>
              </a:spcAft>
              <a:buFontTx/>
              <a:buChar char="-"/>
            </a:pPr>
            <a:r>
              <a:rPr lang="sr-Latn-RS" dirty="0"/>
              <a:t>Dizel vozila su skuplja i ručni menjač ima negativan koeficijent u odnosu na automatski</a:t>
            </a:r>
            <a:endParaRPr lang="en-US" dirty="0"/>
          </a:p>
        </p:txBody>
      </p:sp>
      <p:sp>
        <p:nvSpPr>
          <p:cNvPr id="553" name="Google Shape;553;p66">
            <a:extLst>
              <a:ext uri="{FF2B5EF4-FFF2-40B4-BE49-F238E27FC236}">
                <a16:creationId xmlns:a16="http://schemas.microsoft.com/office/drawing/2014/main" id="{C7EC29BE-DBCE-C2B1-4AF8-18F1DD383432}"/>
              </a:ext>
            </a:extLst>
          </p:cNvPr>
          <p:cNvSpPr txBox="1">
            <a:spLocks noGrp="1"/>
          </p:cNvSpPr>
          <p:nvPr>
            <p:ph type="title"/>
          </p:nvPr>
        </p:nvSpPr>
        <p:spPr>
          <a:xfrm>
            <a:off x="713225" y="445025"/>
            <a:ext cx="709489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Višestruka linearna regresija – rezultati i koeficijenti</a:t>
            </a:r>
            <a:endParaRPr dirty="0"/>
          </a:p>
        </p:txBody>
      </p:sp>
      <p:pic>
        <p:nvPicPr>
          <p:cNvPr id="4" name="Picture 3">
            <a:extLst>
              <a:ext uri="{FF2B5EF4-FFF2-40B4-BE49-F238E27FC236}">
                <a16:creationId xmlns:a16="http://schemas.microsoft.com/office/drawing/2014/main" id="{F959E29A-231F-CCCE-0C9B-B66AA1E54DC4}"/>
              </a:ext>
            </a:extLst>
          </p:cNvPr>
          <p:cNvPicPr>
            <a:picLocks noChangeAspect="1"/>
          </p:cNvPicPr>
          <p:nvPr/>
        </p:nvPicPr>
        <p:blipFill>
          <a:blip r:embed="rId3"/>
          <a:stretch>
            <a:fillRect/>
          </a:stretch>
        </p:blipFill>
        <p:spPr>
          <a:xfrm>
            <a:off x="5379244" y="1610916"/>
            <a:ext cx="3357938" cy="2482730"/>
          </a:xfrm>
          <a:prstGeom prst="rect">
            <a:avLst/>
          </a:prstGeom>
        </p:spPr>
      </p:pic>
    </p:spTree>
    <p:extLst>
      <p:ext uri="{BB962C8B-B14F-4D97-AF65-F5344CB8AC3E}">
        <p14:creationId xmlns:p14="http://schemas.microsoft.com/office/powerpoint/2010/main" val="2676640734"/>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1"/>
          <p:cNvSpPr txBox="1">
            <a:spLocks noGrp="1"/>
          </p:cNvSpPr>
          <p:nvPr>
            <p:ph type="title"/>
          </p:nvPr>
        </p:nvSpPr>
        <p:spPr>
          <a:xfrm>
            <a:off x="196819" y="1308637"/>
            <a:ext cx="4965600" cy="1113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dirty="0"/>
              <a:t>Pore</a:t>
            </a:r>
            <a:r>
              <a:rPr lang="sr-Latn-RS" dirty="0"/>
              <a:t>đenje više regresionih modela</a:t>
            </a:r>
            <a:endParaRPr dirty="0"/>
          </a:p>
        </p:txBody>
      </p:sp>
      <p:sp>
        <p:nvSpPr>
          <p:cNvPr id="587" name="Google Shape;587;p71"/>
          <p:cNvSpPr txBox="1">
            <a:spLocks noGrp="1"/>
          </p:cNvSpPr>
          <p:nvPr>
            <p:ph type="subTitle" idx="1"/>
          </p:nvPr>
        </p:nvSpPr>
        <p:spPr>
          <a:xfrm>
            <a:off x="601219" y="2578986"/>
            <a:ext cx="4561200" cy="8643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sr-Latn-RS" dirty="0"/>
              <a:t>Želimo da vidimo kako se naši podaci ponašaju kroz ostale regresione modele pomoću funkcije </a:t>
            </a:r>
            <a:r>
              <a:rPr lang="sr-Latn-RS" i="1" dirty="0"/>
              <a:t>compareRegressionModels</a:t>
            </a:r>
            <a:endParaRPr i="1" dirty="0"/>
          </a:p>
        </p:txBody>
      </p:sp>
      <p:pic>
        <p:nvPicPr>
          <p:cNvPr id="7" name="Picture 6">
            <a:extLst>
              <a:ext uri="{FF2B5EF4-FFF2-40B4-BE49-F238E27FC236}">
                <a16:creationId xmlns:a16="http://schemas.microsoft.com/office/drawing/2014/main" id="{6FE44ED7-C815-4164-4056-5ED2CD64FAB0}"/>
              </a:ext>
            </a:extLst>
          </p:cNvPr>
          <p:cNvPicPr>
            <a:picLocks noChangeAspect="1"/>
          </p:cNvPicPr>
          <p:nvPr/>
        </p:nvPicPr>
        <p:blipFill>
          <a:blip r:embed="rId3"/>
          <a:stretch>
            <a:fillRect/>
          </a:stretch>
        </p:blipFill>
        <p:spPr>
          <a:xfrm flipV="1">
            <a:off x="5455314" y="1458655"/>
            <a:ext cx="3188625" cy="1679342"/>
          </a:xfrm>
          <a:prstGeom prst="rect">
            <a:avLst/>
          </a:prstGeom>
        </p:spPr>
      </p:pic>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8">
          <a:extLst>
            <a:ext uri="{FF2B5EF4-FFF2-40B4-BE49-F238E27FC236}">
              <a16:creationId xmlns:a16="http://schemas.microsoft.com/office/drawing/2014/main" id="{05F22289-7943-D92C-582E-B1868FB06644}"/>
            </a:ext>
          </a:extLst>
        </p:cNvPr>
        <p:cNvGrpSpPr/>
        <p:nvPr/>
      </p:nvGrpSpPr>
      <p:grpSpPr>
        <a:xfrm>
          <a:off x="0" y="0"/>
          <a:ext cx="0" cy="0"/>
          <a:chOff x="0" y="0"/>
          <a:chExt cx="0" cy="0"/>
        </a:xfrm>
      </p:grpSpPr>
      <p:sp>
        <p:nvSpPr>
          <p:cNvPr id="559" name="Google Shape;559;p67">
            <a:extLst>
              <a:ext uri="{FF2B5EF4-FFF2-40B4-BE49-F238E27FC236}">
                <a16:creationId xmlns:a16="http://schemas.microsoft.com/office/drawing/2014/main" id="{DC074004-9235-477F-D213-745178E57436}"/>
              </a:ext>
            </a:extLst>
          </p:cNvPr>
          <p:cNvSpPr txBox="1">
            <a:spLocks noGrp="1"/>
          </p:cNvSpPr>
          <p:nvPr>
            <p:ph type="subTitle" idx="1"/>
          </p:nvPr>
        </p:nvSpPr>
        <p:spPr>
          <a:xfrm>
            <a:off x="1174838" y="1560556"/>
            <a:ext cx="3847200" cy="23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sr-Latn-RS" dirty="0">
                <a:solidFill>
                  <a:schemeClr val="dk1"/>
                </a:solidFill>
              </a:rPr>
              <a:t>Korišćeni modeli</a:t>
            </a:r>
            <a:r>
              <a:rPr lang="en" dirty="0">
                <a:solidFill>
                  <a:schemeClr val="dk1"/>
                </a:solidFill>
              </a:rPr>
              <a:t>:</a:t>
            </a:r>
            <a:endParaRPr dirty="0">
              <a:solidFill>
                <a:schemeClr val="dk1"/>
              </a:solidFill>
            </a:endParaRPr>
          </a:p>
          <a:p>
            <a:pPr marL="457200" lvl="0" indent="-317500" algn="l" rtl="0">
              <a:spcBef>
                <a:spcPts val="1000"/>
              </a:spcBef>
              <a:spcAft>
                <a:spcPts val="0"/>
              </a:spcAft>
              <a:buSzPts val="1400"/>
              <a:buChar char="●"/>
            </a:pPr>
            <a:r>
              <a:rPr lang="sr-Latn-RS" i="1" dirty="0">
                <a:solidFill>
                  <a:schemeClr val="dk1"/>
                </a:solidFill>
              </a:rPr>
              <a:t>Linear Regression</a:t>
            </a:r>
            <a:endParaRPr i="1" dirty="0">
              <a:solidFill>
                <a:schemeClr val="dk1"/>
              </a:solidFill>
            </a:endParaRPr>
          </a:p>
          <a:p>
            <a:pPr marL="457200" lvl="0" indent="-317500" algn="l" rtl="0">
              <a:spcBef>
                <a:spcPts val="0"/>
              </a:spcBef>
              <a:spcAft>
                <a:spcPts val="0"/>
              </a:spcAft>
              <a:buSzPts val="1400"/>
              <a:buChar char="●"/>
            </a:pPr>
            <a:r>
              <a:rPr lang="sr-Latn-RS" i="1" dirty="0">
                <a:solidFill>
                  <a:schemeClr val="dk1"/>
                </a:solidFill>
              </a:rPr>
              <a:t>Ridge Regression</a:t>
            </a:r>
            <a:endParaRPr i="1" dirty="0">
              <a:solidFill>
                <a:schemeClr val="dk1"/>
              </a:solidFill>
            </a:endParaRPr>
          </a:p>
          <a:p>
            <a:pPr marL="457200" lvl="0" indent="-317500" algn="l" rtl="0">
              <a:spcBef>
                <a:spcPts val="0"/>
              </a:spcBef>
              <a:spcAft>
                <a:spcPts val="0"/>
              </a:spcAft>
              <a:buSzPts val="1400"/>
              <a:buChar char="●"/>
            </a:pPr>
            <a:r>
              <a:rPr lang="sr-Latn-RS" i="1" dirty="0">
                <a:solidFill>
                  <a:schemeClr val="dk1"/>
                </a:solidFill>
              </a:rPr>
              <a:t>Lasso Regression</a:t>
            </a:r>
          </a:p>
          <a:p>
            <a:pPr marL="457200" lvl="0" indent="-317500" algn="l" rtl="0">
              <a:spcBef>
                <a:spcPts val="0"/>
              </a:spcBef>
              <a:spcAft>
                <a:spcPts val="0"/>
              </a:spcAft>
              <a:buSzPts val="1400"/>
              <a:buChar char="●"/>
            </a:pPr>
            <a:r>
              <a:rPr lang="sr-Latn-RS" i="1" dirty="0">
                <a:solidFill>
                  <a:schemeClr val="dk1"/>
                </a:solidFill>
              </a:rPr>
              <a:t>Random Forest Regression</a:t>
            </a:r>
          </a:p>
          <a:p>
            <a:pPr marL="139700" lvl="0" indent="0" algn="l" rtl="0">
              <a:spcBef>
                <a:spcPts val="0"/>
              </a:spcBef>
              <a:spcAft>
                <a:spcPts val="0"/>
              </a:spcAft>
              <a:buSzPts val="1400"/>
              <a:buNone/>
            </a:pPr>
            <a:endParaRPr lang="sr-Latn-RS" dirty="0">
              <a:solidFill>
                <a:schemeClr val="dk1"/>
              </a:solidFill>
            </a:endParaRPr>
          </a:p>
          <a:p>
            <a:pPr marL="139700" lvl="0" indent="0" algn="l" rtl="0">
              <a:spcBef>
                <a:spcPts val="0"/>
              </a:spcBef>
              <a:spcAft>
                <a:spcPts val="0"/>
              </a:spcAft>
              <a:buSzPts val="1400"/>
              <a:buNone/>
            </a:pPr>
            <a:r>
              <a:rPr lang="sr-Latn-RS" dirty="0">
                <a:solidFill>
                  <a:schemeClr val="dk1"/>
                </a:solidFill>
              </a:rPr>
              <a:t>Metodologija poređenja:</a:t>
            </a:r>
          </a:p>
          <a:p>
            <a:pPr marL="425450" lvl="0" indent="-285750" algn="l" rtl="0">
              <a:spcBef>
                <a:spcPts val="0"/>
              </a:spcBef>
              <a:spcAft>
                <a:spcPts val="0"/>
              </a:spcAft>
              <a:buSzPts val="1400"/>
              <a:buFont typeface="Arial" panose="020B0604020202020204" pitchFamily="34" charset="0"/>
              <a:buChar char="•"/>
            </a:pPr>
            <a:r>
              <a:rPr lang="sr-Latn-RS" dirty="0">
                <a:solidFill>
                  <a:schemeClr val="dk1"/>
                </a:solidFill>
              </a:rPr>
              <a:t>Podela 60/20/20</a:t>
            </a:r>
          </a:p>
          <a:p>
            <a:pPr marL="425450" lvl="0" indent="-285750" algn="l" rtl="0">
              <a:spcBef>
                <a:spcPts val="0"/>
              </a:spcBef>
              <a:spcAft>
                <a:spcPts val="0"/>
              </a:spcAft>
              <a:buSzPts val="1400"/>
              <a:buFont typeface="Arial" panose="020B0604020202020204" pitchFamily="34" charset="0"/>
              <a:buChar char="•"/>
            </a:pPr>
            <a:r>
              <a:rPr lang="sr-Latn-RS" dirty="0">
                <a:solidFill>
                  <a:schemeClr val="dk1"/>
                </a:solidFill>
              </a:rPr>
              <a:t>Scaler fitovan na trening skupu</a:t>
            </a:r>
          </a:p>
          <a:p>
            <a:pPr marL="425450" lvl="0" indent="-285750" algn="l" rtl="0">
              <a:spcBef>
                <a:spcPts val="0"/>
              </a:spcBef>
              <a:spcAft>
                <a:spcPts val="0"/>
              </a:spcAft>
              <a:buSzPts val="1400"/>
              <a:buFont typeface="Arial" panose="020B0604020202020204" pitchFamily="34" charset="0"/>
              <a:buChar char="•"/>
            </a:pPr>
            <a:r>
              <a:rPr lang="sr-Latn-RS" dirty="0">
                <a:solidFill>
                  <a:schemeClr val="dk1"/>
                </a:solidFill>
              </a:rPr>
              <a:t>Evaluacija na test skupu</a:t>
            </a:r>
          </a:p>
        </p:txBody>
      </p:sp>
      <p:sp>
        <p:nvSpPr>
          <p:cNvPr id="560" name="Google Shape;560;p67">
            <a:extLst>
              <a:ext uri="{FF2B5EF4-FFF2-40B4-BE49-F238E27FC236}">
                <a16:creationId xmlns:a16="http://schemas.microsoft.com/office/drawing/2014/main" id="{64AA4DBF-B7C2-93A4-AB90-9425C15E5715}"/>
              </a:ext>
            </a:extLst>
          </p:cNvPr>
          <p:cNvSpPr txBox="1">
            <a:spLocks noGrp="1"/>
          </p:cNvSpPr>
          <p:nvPr>
            <p:ph type="title"/>
          </p:nvPr>
        </p:nvSpPr>
        <p:spPr>
          <a:xfrm>
            <a:off x="1174838" y="535184"/>
            <a:ext cx="6083212"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Poređenje više regresionih modela</a:t>
            </a:r>
            <a:endParaRPr dirty="0"/>
          </a:p>
        </p:txBody>
      </p:sp>
      <p:pic>
        <p:nvPicPr>
          <p:cNvPr id="3" name="Picture 2">
            <a:extLst>
              <a:ext uri="{FF2B5EF4-FFF2-40B4-BE49-F238E27FC236}">
                <a16:creationId xmlns:a16="http://schemas.microsoft.com/office/drawing/2014/main" id="{C0B44BEA-15AC-5B7A-C381-3F1A009934EB}"/>
              </a:ext>
            </a:extLst>
          </p:cNvPr>
          <p:cNvPicPr>
            <a:picLocks noChangeAspect="1"/>
          </p:cNvPicPr>
          <p:nvPr/>
        </p:nvPicPr>
        <p:blipFill>
          <a:blip r:embed="rId3"/>
          <a:stretch>
            <a:fillRect/>
          </a:stretch>
        </p:blipFill>
        <p:spPr>
          <a:xfrm>
            <a:off x="4792876" y="1560556"/>
            <a:ext cx="3593887" cy="1255596"/>
          </a:xfrm>
          <a:prstGeom prst="rect">
            <a:avLst/>
          </a:prstGeom>
        </p:spPr>
      </p:pic>
      <p:pic>
        <p:nvPicPr>
          <p:cNvPr id="6" name="Picture 5">
            <a:extLst>
              <a:ext uri="{FF2B5EF4-FFF2-40B4-BE49-F238E27FC236}">
                <a16:creationId xmlns:a16="http://schemas.microsoft.com/office/drawing/2014/main" id="{0502DBC6-2B22-7692-253C-417292D0DB99}"/>
              </a:ext>
            </a:extLst>
          </p:cNvPr>
          <p:cNvPicPr>
            <a:picLocks noChangeAspect="1"/>
          </p:cNvPicPr>
          <p:nvPr/>
        </p:nvPicPr>
        <p:blipFill>
          <a:blip r:embed="rId4"/>
          <a:stretch>
            <a:fillRect/>
          </a:stretch>
        </p:blipFill>
        <p:spPr>
          <a:xfrm>
            <a:off x="4792875" y="3038600"/>
            <a:ext cx="3593887" cy="976005"/>
          </a:xfrm>
          <a:prstGeom prst="rect">
            <a:avLst/>
          </a:prstGeom>
        </p:spPr>
      </p:pic>
    </p:spTree>
    <p:extLst>
      <p:ext uri="{BB962C8B-B14F-4D97-AF65-F5344CB8AC3E}">
        <p14:creationId xmlns:p14="http://schemas.microsoft.com/office/powerpoint/2010/main" val="3289638975"/>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0D599981-AE8A-8500-2497-D85184175458}"/>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0476570A-45B3-A006-0261-0CA766A0D01E}"/>
              </a:ext>
            </a:extLst>
          </p:cNvPr>
          <p:cNvSpPr txBox="1">
            <a:spLocks noGrp="1"/>
          </p:cNvSpPr>
          <p:nvPr>
            <p:ph type="title"/>
          </p:nvPr>
        </p:nvSpPr>
        <p:spPr>
          <a:xfrm>
            <a:off x="713225" y="445025"/>
            <a:ext cx="709489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Koeficijenti – Linearna regresija</a:t>
            </a:r>
            <a:endParaRPr dirty="0"/>
          </a:p>
        </p:txBody>
      </p:sp>
      <p:pic>
        <p:nvPicPr>
          <p:cNvPr id="3" name="Picture 2">
            <a:extLst>
              <a:ext uri="{FF2B5EF4-FFF2-40B4-BE49-F238E27FC236}">
                <a16:creationId xmlns:a16="http://schemas.microsoft.com/office/drawing/2014/main" id="{86DF27F2-5B90-C928-35A6-D3B219C7577B}"/>
              </a:ext>
            </a:extLst>
          </p:cNvPr>
          <p:cNvPicPr>
            <a:picLocks noChangeAspect="1"/>
          </p:cNvPicPr>
          <p:nvPr/>
        </p:nvPicPr>
        <p:blipFill>
          <a:blip r:embed="rId3"/>
          <a:stretch>
            <a:fillRect/>
          </a:stretch>
        </p:blipFill>
        <p:spPr>
          <a:xfrm>
            <a:off x="713225" y="1427244"/>
            <a:ext cx="3276226" cy="2893523"/>
          </a:xfrm>
          <a:prstGeom prst="rect">
            <a:avLst/>
          </a:prstGeom>
        </p:spPr>
      </p:pic>
      <p:pic>
        <p:nvPicPr>
          <p:cNvPr id="8" name="Picture 7">
            <a:extLst>
              <a:ext uri="{FF2B5EF4-FFF2-40B4-BE49-F238E27FC236}">
                <a16:creationId xmlns:a16="http://schemas.microsoft.com/office/drawing/2014/main" id="{A720A603-343C-98AD-3394-BC8042504113}"/>
              </a:ext>
            </a:extLst>
          </p:cNvPr>
          <p:cNvPicPr>
            <a:picLocks noChangeAspect="1"/>
          </p:cNvPicPr>
          <p:nvPr/>
        </p:nvPicPr>
        <p:blipFill>
          <a:blip r:embed="rId4"/>
          <a:stretch>
            <a:fillRect/>
          </a:stretch>
        </p:blipFill>
        <p:spPr>
          <a:xfrm>
            <a:off x="4680561" y="1427243"/>
            <a:ext cx="3750214" cy="2893522"/>
          </a:xfrm>
          <a:prstGeom prst="rect">
            <a:avLst/>
          </a:prstGeom>
        </p:spPr>
      </p:pic>
    </p:spTree>
    <p:extLst>
      <p:ext uri="{BB962C8B-B14F-4D97-AF65-F5344CB8AC3E}">
        <p14:creationId xmlns:p14="http://schemas.microsoft.com/office/powerpoint/2010/main" val="3574711616"/>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8F96871F-62D0-0BF2-3ED9-4BB09762104F}"/>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8A03BE00-9653-411D-0B47-D77B301A607A}"/>
              </a:ext>
            </a:extLst>
          </p:cNvPr>
          <p:cNvSpPr txBox="1">
            <a:spLocks noGrp="1"/>
          </p:cNvSpPr>
          <p:nvPr>
            <p:ph type="title"/>
          </p:nvPr>
        </p:nvSpPr>
        <p:spPr>
          <a:xfrm>
            <a:off x="713225" y="445025"/>
            <a:ext cx="709489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Koeficijenti – Ridge regresija</a:t>
            </a:r>
            <a:endParaRPr dirty="0"/>
          </a:p>
        </p:txBody>
      </p:sp>
      <p:pic>
        <p:nvPicPr>
          <p:cNvPr id="4" name="Picture 3">
            <a:extLst>
              <a:ext uri="{FF2B5EF4-FFF2-40B4-BE49-F238E27FC236}">
                <a16:creationId xmlns:a16="http://schemas.microsoft.com/office/drawing/2014/main" id="{F22D31EB-0BB1-C864-1EC0-4978307FB1A6}"/>
              </a:ext>
            </a:extLst>
          </p:cNvPr>
          <p:cNvPicPr>
            <a:picLocks noChangeAspect="1"/>
          </p:cNvPicPr>
          <p:nvPr/>
        </p:nvPicPr>
        <p:blipFill>
          <a:blip r:embed="rId3"/>
          <a:stretch>
            <a:fillRect/>
          </a:stretch>
        </p:blipFill>
        <p:spPr>
          <a:xfrm>
            <a:off x="713225" y="1427243"/>
            <a:ext cx="3324320" cy="2893522"/>
          </a:xfrm>
          <a:prstGeom prst="rect">
            <a:avLst/>
          </a:prstGeom>
        </p:spPr>
      </p:pic>
      <p:pic>
        <p:nvPicPr>
          <p:cNvPr id="6" name="Picture 5">
            <a:extLst>
              <a:ext uri="{FF2B5EF4-FFF2-40B4-BE49-F238E27FC236}">
                <a16:creationId xmlns:a16="http://schemas.microsoft.com/office/drawing/2014/main" id="{38660E40-14F8-25A5-556B-B09CDB059D10}"/>
              </a:ext>
            </a:extLst>
          </p:cNvPr>
          <p:cNvPicPr>
            <a:picLocks noChangeAspect="1"/>
          </p:cNvPicPr>
          <p:nvPr/>
        </p:nvPicPr>
        <p:blipFill>
          <a:blip r:embed="rId4"/>
          <a:stretch>
            <a:fillRect/>
          </a:stretch>
        </p:blipFill>
        <p:spPr>
          <a:xfrm>
            <a:off x="4572000" y="1427244"/>
            <a:ext cx="3828353" cy="2893522"/>
          </a:xfrm>
          <a:prstGeom prst="rect">
            <a:avLst/>
          </a:prstGeom>
        </p:spPr>
      </p:pic>
    </p:spTree>
    <p:extLst>
      <p:ext uri="{BB962C8B-B14F-4D97-AF65-F5344CB8AC3E}">
        <p14:creationId xmlns:p14="http://schemas.microsoft.com/office/powerpoint/2010/main" val="3850869162"/>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E81D4FD7-87B0-4B66-88BF-D8C4F36E1764}"/>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26E92EFF-4541-4B67-DA69-B7593DD3F365}"/>
              </a:ext>
            </a:extLst>
          </p:cNvPr>
          <p:cNvSpPr txBox="1">
            <a:spLocks noGrp="1"/>
          </p:cNvSpPr>
          <p:nvPr>
            <p:ph type="title"/>
          </p:nvPr>
        </p:nvSpPr>
        <p:spPr>
          <a:xfrm>
            <a:off x="713225" y="445025"/>
            <a:ext cx="709489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Koeficijenti – Lasso regresija</a:t>
            </a:r>
            <a:endParaRPr dirty="0"/>
          </a:p>
        </p:txBody>
      </p:sp>
      <p:pic>
        <p:nvPicPr>
          <p:cNvPr id="3" name="Picture 2">
            <a:extLst>
              <a:ext uri="{FF2B5EF4-FFF2-40B4-BE49-F238E27FC236}">
                <a16:creationId xmlns:a16="http://schemas.microsoft.com/office/drawing/2014/main" id="{C19CC7D8-E831-506A-E8CC-1DE49E05B50E}"/>
              </a:ext>
            </a:extLst>
          </p:cNvPr>
          <p:cNvPicPr>
            <a:picLocks noChangeAspect="1"/>
          </p:cNvPicPr>
          <p:nvPr/>
        </p:nvPicPr>
        <p:blipFill>
          <a:blip r:embed="rId3"/>
          <a:stretch>
            <a:fillRect/>
          </a:stretch>
        </p:blipFill>
        <p:spPr>
          <a:xfrm>
            <a:off x="743647" y="1427244"/>
            <a:ext cx="3328291" cy="2894638"/>
          </a:xfrm>
          <a:prstGeom prst="rect">
            <a:avLst/>
          </a:prstGeom>
        </p:spPr>
      </p:pic>
      <p:pic>
        <p:nvPicPr>
          <p:cNvPr id="7" name="Picture 6">
            <a:extLst>
              <a:ext uri="{FF2B5EF4-FFF2-40B4-BE49-F238E27FC236}">
                <a16:creationId xmlns:a16="http://schemas.microsoft.com/office/drawing/2014/main" id="{CABA2F9A-6879-F8C0-39F4-38F3A3CD970D}"/>
              </a:ext>
            </a:extLst>
          </p:cNvPr>
          <p:cNvPicPr>
            <a:picLocks noChangeAspect="1"/>
          </p:cNvPicPr>
          <p:nvPr/>
        </p:nvPicPr>
        <p:blipFill>
          <a:blip r:embed="rId4"/>
          <a:stretch>
            <a:fillRect/>
          </a:stretch>
        </p:blipFill>
        <p:spPr>
          <a:xfrm>
            <a:off x="4571999" y="1427244"/>
            <a:ext cx="3874361" cy="2894638"/>
          </a:xfrm>
          <a:prstGeom prst="rect">
            <a:avLst/>
          </a:prstGeom>
        </p:spPr>
      </p:pic>
    </p:spTree>
    <p:extLst>
      <p:ext uri="{BB962C8B-B14F-4D97-AF65-F5344CB8AC3E}">
        <p14:creationId xmlns:p14="http://schemas.microsoft.com/office/powerpoint/2010/main" val="1446832665"/>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8">
          <a:extLst>
            <a:ext uri="{FF2B5EF4-FFF2-40B4-BE49-F238E27FC236}">
              <a16:creationId xmlns:a16="http://schemas.microsoft.com/office/drawing/2014/main" id="{1D16BB15-6C46-EA76-E3EB-5DC19B84144C}"/>
            </a:ext>
          </a:extLst>
        </p:cNvPr>
        <p:cNvGrpSpPr/>
        <p:nvPr/>
      </p:nvGrpSpPr>
      <p:grpSpPr>
        <a:xfrm>
          <a:off x="0" y="0"/>
          <a:ext cx="0" cy="0"/>
          <a:chOff x="0" y="0"/>
          <a:chExt cx="0" cy="0"/>
        </a:xfrm>
      </p:grpSpPr>
      <p:sp>
        <p:nvSpPr>
          <p:cNvPr id="559" name="Google Shape;559;p67">
            <a:extLst>
              <a:ext uri="{FF2B5EF4-FFF2-40B4-BE49-F238E27FC236}">
                <a16:creationId xmlns:a16="http://schemas.microsoft.com/office/drawing/2014/main" id="{9E7154E0-62B4-DA19-09FA-15A450C986E4}"/>
              </a:ext>
            </a:extLst>
          </p:cNvPr>
          <p:cNvSpPr txBox="1">
            <a:spLocks noGrp="1"/>
          </p:cNvSpPr>
          <p:nvPr>
            <p:ph type="subTitle" idx="1"/>
          </p:nvPr>
        </p:nvSpPr>
        <p:spPr>
          <a:xfrm>
            <a:off x="1174838" y="1560556"/>
            <a:ext cx="3847200" cy="23799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chemeClr val="dk1"/>
              </a:buClr>
              <a:buSzPts val="1100"/>
              <a:buFontTx/>
              <a:buChar char="-"/>
            </a:pPr>
            <a:r>
              <a:rPr lang="sr-Latn-RS" dirty="0">
                <a:solidFill>
                  <a:schemeClr val="dk1"/>
                </a:solidFill>
              </a:rPr>
              <a:t>Kako </a:t>
            </a:r>
            <a:r>
              <a:rPr lang="sr-Latn-RS" i="1" dirty="0">
                <a:solidFill>
                  <a:schemeClr val="dk1"/>
                </a:solidFill>
              </a:rPr>
              <a:t>Random Forest Regression nije linearan, za njega ne možemo izračunati koeficijente već importansu.</a:t>
            </a:r>
          </a:p>
          <a:p>
            <a:pPr marL="285750" lvl="0" indent="-285750" algn="l" rtl="0">
              <a:spcBef>
                <a:spcPts val="0"/>
              </a:spcBef>
              <a:spcAft>
                <a:spcPts val="0"/>
              </a:spcAft>
              <a:buClr>
                <a:schemeClr val="dk1"/>
              </a:buClr>
              <a:buSzPts val="1100"/>
              <a:buFontTx/>
              <a:buChar char="-"/>
            </a:pPr>
            <a:endParaRPr lang="sr-Latn-RS" i="1" dirty="0">
              <a:solidFill>
                <a:schemeClr val="dk1"/>
              </a:solidFill>
            </a:endParaRPr>
          </a:p>
          <a:p>
            <a:pPr marL="285750" lvl="0" indent="-285750" algn="l" rtl="0">
              <a:spcBef>
                <a:spcPts val="0"/>
              </a:spcBef>
              <a:spcAft>
                <a:spcPts val="0"/>
              </a:spcAft>
              <a:buClr>
                <a:schemeClr val="dk1"/>
              </a:buClr>
              <a:buSzPts val="1100"/>
              <a:buFontTx/>
              <a:buChar char="-"/>
            </a:pPr>
            <a:r>
              <a:rPr lang="sr-Latn-RS" i="1" dirty="0">
                <a:solidFill>
                  <a:schemeClr val="dk1"/>
                </a:solidFill>
              </a:rPr>
              <a:t>Veća importansa = atribut pozitivnije utiče na model</a:t>
            </a:r>
          </a:p>
          <a:p>
            <a:pPr marL="285750" lvl="0" indent="-285750" algn="l" rtl="0">
              <a:spcBef>
                <a:spcPts val="0"/>
              </a:spcBef>
              <a:spcAft>
                <a:spcPts val="0"/>
              </a:spcAft>
              <a:buClr>
                <a:schemeClr val="dk1"/>
              </a:buClr>
              <a:buSzPts val="1100"/>
              <a:buFontTx/>
              <a:buChar char="-"/>
            </a:pPr>
            <a:endParaRPr lang="sr-Latn-RS" i="1" dirty="0">
              <a:solidFill>
                <a:schemeClr val="dk1"/>
              </a:solidFill>
            </a:endParaRPr>
          </a:p>
        </p:txBody>
      </p:sp>
      <p:sp>
        <p:nvSpPr>
          <p:cNvPr id="560" name="Google Shape;560;p67">
            <a:extLst>
              <a:ext uri="{FF2B5EF4-FFF2-40B4-BE49-F238E27FC236}">
                <a16:creationId xmlns:a16="http://schemas.microsoft.com/office/drawing/2014/main" id="{17EFBB33-38FE-7BBA-E3A4-3DE09D97F7F1}"/>
              </a:ext>
            </a:extLst>
          </p:cNvPr>
          <p:cNvSpPr txBox="1">
            <a:spLocks noGrp="1"/>
          </p:cNvSpPr>
          <p:nvPr>
            <p:ph type="title"/>
          </p:nvPr>
        </p:nvSpPr>
        <p:spPr>
          <a:xfrm>
            <a:off x="953380" y="535184"/>
            <a:ext cx="6676143"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Importansa – Random Forest regresija</a:t>
            </a:r>
            <a:endParaRPr dirty="0"/>
          </a:p>
        </p:txBody>
      </p:sp>
      <p:pic>
        <p:nvPicPr>
          <p:cNvPr id="4" name="Picture 3">
            <a:extLst>
              <a:ext uri="{FF2B5EF4-FFF2-40B4-BE49-F238E27FC236}">
                <a16:creationId xmlns:a16="http://schemas.microsoft.com/office/drawing/2014/main" id="{173E291B-1FA1-EFD7-6B59-D7B026FB2673}"/>
              </a:ext>
            </a:extLst>
          </p:cNvPr>
          <p:cNvPicPr>
            <a:picLocks noChangeAspect="1"/>
          </p:cNvPicPr>
          <p:nvPr/>
        </p:nvPicPr>
        <p:blipFill>
          <a:blip r:embed="rId3"/>
          <a:stretch>
            <a:fillRect/>
          </a:stretch>
        </p:blipFill>
        <p:spPr>
          <a:xfrm>
            <a:off x="5309914" y="1560556"/>
            <a:ext cx="3083993" cy="2432761"/>
          </a:xfrm>
          <a:prstGeom prst="rect">
            <a:avLst/>
          </a:prstGeom>
        </p:spPr>
      </p:pic>
    </p:spTree>
    <p:extLst>
      <p:ext uri="{BB962C8B-B14F-4D97-AF65-F5344CB8AC3E}">
        <p14:creationId xmlns:p14="http://schemas.microsoft.com/office/powerpoint/2010/main" val="661309664"/>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8">
          <a:extLst>
            <a:ext uri="{FF2B5EF4-FFF2-40B4-BE49-F238E27FC236}">
              <a16:creationId xmlns:a16="http://schemas.microsoft.com/office/drawing/2014/main" id="{AD61A703-2E79-C1CA-973A-20627FF1CC5A}"/>
            </a:ext>
          </a:extLst>
        </p:cNvPr>
        <p:cNvGrpSpPr/>
        <p:nvPr/>
      </p:nvGrpSpPr>
      <p:grpSpPr>
        <a:xfrm>
          <a:off x="0" y="0"/>
          <a:ext cx="0" cy="0"/>
          <a:chOff x="0" y="0"/>
          <a:chExt cx="0" cy="0"/>
        </a:xfrm>
      </p:grpSpPr>
      <p:sp>
        <p:nvSpPr>
          <p:cNvPr id="559" name="Google Shape;559;p67">
            <a:extLst>
              <a:ext uri="{FF2B5EF4-FFF2-40B4-BE49-F238E27FC236}">
                <a16:creationId xmlns:a16="http://schemas.microsoft.com/office/drawing/2014/main" id="{37632406-F3FD-C750-FC03-9EB5D0EE12CF}"/>
              </a:ext>
            </a:extLst>
          </p:cNvPr>
          <p:cNvSpPr txBox="1">
            <a:spLocks noGrp="1"/>
          </p:cNvSpPr>
          <p:nvPr>
            <p:ph type="subTitle" idx="1"/>
          </p:nvPr>
        </p:nvSpPr>
        <p:spPr>
          <a:xfrm>
            <a:off x="1174838" y="1442687"/>
            <a:ext cx="6164613" cy="1011194"/>
          </a:xfrm>
          <a:prstGeom prst="rect">
            <a:avLst/>
          </a:prstGeom>
        </p:spPr>
        <p:txBody>
          <a:bodyPr spcFirstLastPara="1" wrap="square" lIns="91425" tIns="91425" rIns="91425" bIns="91425" anchor="t" anchorCtr="0">
            <a:noAutofit/>
          </a:bodyPr>
          <a:lstStyle/>
          <a:p>
            <a:pPr marL="285750" lvl="0" indent="-285750">
              <a:buClr>
                <a:schemeClr val="dk1"/>
              </a:buClr>
              <a:buSzPts val="1100"/>
              <a:buFontTx/>
              <a:buChar char="-"/>
            </a:pPr>
            <a:r>
              <a:rPr lang="sr-Latn-RS" dirty="0">
                <a:solidFill>
                  <a:schemeClr val="dk1"/>
                </a:solidFill>
              </a:rPr>
              <a:t>Random Forest ostvaruje najbolje performanse</a:t>
            </a:r>
          </a:p>
          <a:p>
            <a:pPr marL="285750" lvl="0" indent="-285750">
              <a:buClr>
                <a:schemeClr val="dk1"/>
              </a:buClr>
              <a:buSzPts val="1100"/>
              <a:buFontTx/>
              <a:buChar char="-"/>
            </a:pPr>
            <a:r>
              <a:rPr lang="sr-Latn-RS" dirty="0">
                <a:solidFill>
                  <a:schemeClr val="dk1"/>
                </a:solidFill>
              </a:rPr>
              <a:t>Linear, Lasso i Ridge daju vrlo slične rezultate</a:t>
            </a:r>
          </a:p>
          <a:p>
            <a:pPr marL="285750" lvl="0" indent="-285750">
              <a:buClr>
                <a:schemeClr val="dk1"/>
              </a:buClr>
              <a:buSzPts val="1100"/>
              <a:buFontTx/>
              <a:buChar char="-"/>
            </a:pPr>
            <a:r>
              <a:rPr lang="sr-Latn-RS" dirty="0">
                <a:solidFill>
                  <a:schemeClr val="dk1"/>
                </a:solidFill>
              </a:rPr>
              <a:t>Random Forest pravi manju prosečnu grešku predikcije</a:t>
            </a:r>
          </a:p>
          <a:p>
            <a:pPr marL="285750" lvl="0" indent="-285750">
              <a:buClr>
                <a:schemeClr val="dk1"/>
              </a:buClr>
              <a:buSzPts val="1100"/>
              <a:buFontTx/>
              <a:buChar char="-"/>
            </a:pPr>
            <a:r>
              <a:rPr lang="sr-Latn-RS" dirty="0">
                <a:solidFill>
                  <a:schemeClr val="dk1"/>
                </a:solidFill>
              </a:rPr>
              <a:t>Linearni modeli ostaju važni zbog dobre interpretabilnosti, iako imaju slabiju tačnost</a:t>
            </a:r>
          </a:p>
        </p:txBody>
      </p:sp>
      <p:sp>
        <p:nvSpPr>
          <p:cNvPr id="560" name="Google Shape;560;p67">
            <a:extLst>
              <a:ext uri="{FF2B5EF4-FFF2-40B4-BE49-F238E27FC236}">
                <a16:creationId xmlns:a16="http://schemas.microsoft.com/office/drawing/2014/main" id="{894F32A2-7D74-9EF7-3794-826D08B8DB59}"/>
              </a:ext>
            </a:extLst>
          </p:cNvPr>
          <p:cNvSpPr txBox="1">
            <a:spLocks noGrp="1"/>
          </p:cNvSpPr>
          <p:nvPr>
            <p:ph type="title"/>
          </p:nvPr>
        </p:nvSpPr>
        <p:spPr>
          <a:xfrm>
            <a:off x="953380" y="535184"/>
            <a:ext cx="6676143"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Poređenje više regresionih modela</a:t>
            </a:r>
            <a:endParaRPr dirty="0"/>
          </a:p>
        </p:txBody>
      </p:sp>
      <p:graphicFrame>
        <p:nvGraphicFramePr>
          <p:cNvPr id="7" name="Table 6">
            <a:extLst>
              <a:ext uri="{FF2B5EF4-FFF2-40B4-BE49-F238E27FC236}">
                <a16:creationId xmlns:a16="http://schemas.microsoft.com/office/drawing/2014/main" id="{0565E781-81B7-2E5A-764B-9EA863E0C7A0}"/>
              </a:ext>
            </a:extLst>
          </p:cNvPr>
          <p:cNvGraphicFramePr>
            <a:graphicFrameLocks noGrp="1"/>
          </p:cNvGraphicFramePr>
          <p:nvPr>
            <p:extLst>
              <p:ext uri="{D42A27DB-BD31-4B8C-83A1-F6EECF244321}">
                <p14:modId xmlns:p14="http://schemas.microsoft.com/office/powerpoint/2010/main" val="2256167474"/>
              </p:ext>
            </p:extLst>
          </p:nvPr>
        </p:nvGraphicFramePr>
        <p:xfrm>
          <a:off x="1243451" y="2788684"/>
          <a:ext cx="6096000" cy="2001520"/>
        </p:xfrm>
        <a:graphic>
          <a:graphicData uri="http://schemas.openxmlformats.org/drawingml/2006/table">
            <a:tbl>
              <a:tblPr firstRow="1" bandRow="1">
                <a:tableStyleId>{083D7A3E-65F8-455E-8091-C9C1ACF47B48}</a:tableStyleId>
              </a:tblPr>
              <a:tblGrid>
                <a:gridCol w="1524000">
                  <a:extLst>
                    <a:ext uri="{9D8B030D-6E8A-4147-A177-3AD203B41FA5}">
                      <a16:colId xmlns:a16="http://schemas.microsoft.com/office/drawing/2014/main" val="3545661834"/>
                    </a:ext>
                  </a:extLst>
                </a:gridCol>
                <a:gridCol w="1524000">
                  <a:extLst>
                    <a:ext uri="{9D8B030D-6E8A-4147-A177-3AD203B41FA5}">
                      <a16:colId xmlns:a16="http://schemas.microsoft.com/office/drawing/2014/main" val="4247459160"/>
                    </a:ext>
                  </a:extLst>
                </a:gridCol>
                <a:gridCol w="1524000">
                  <a:extLst>
                    <a:ext uri="{9D8B030D-6E8A-4147-A177-3AD203B41FA5}">
                      <a16:colId xmlns:a16="http://schemas.microsoft.com/office/drawing/2014/main" val="135929568"/>
                    </a:ext>
                  </a:extLst>
                </a:gridCol>
                <a:gridCol w="1524000">
                  <a:extLst>
                    <a:ext uri="{9D8B030D-6E8A-4147-A177-3AD203B41FA5}">
                      <a16:colId xmlns:a16="http://schemas.microsoft.com/office/drawing/2014/main" val="902871412"/>
                    </a:ext>
                  </a:extLst>
                </a:gridCol>
              </a:tblGrid>
              <a:tr h="370840">
                <a:tc>
                  <a:txBody>
                    <a:bodyPr/>
                    <a:lstStyle/>
                    <a:p>
                      <a:r>
                        <a:rPr lang="sr-Latn-RS" dirty="0">
                          <a:latin typeface="Vidaloka" panose="020B0604020202020204" charset="0"/>
                        </a:rPr>
                        <a:t>Model</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R</a:t>
                      </a:r>
                      <a:r>
                        <a:rPr lang="sr-Latn-RS" baseline="30000" dirty="0">
                          <a:latin typeface="Vidaloka" panose="020B0604020202020204" charset="0"/>
                        </a:rPr>
                        <a:t>2</a:t>
                      </a:r>
                      <a:endParaRPr lang="en-US" baseline="30000"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MSE</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RMSE</a:t>
                      </a:r>
                      <a:endParaRPr lang="en-US" dirty="0">
                        <a:latin typeface="Vidaloka" panose="020B0604020202020204" charset="0"/>
                      </a:endParaRPr>
                    </a:p>
                  </a:txBody>
                  <a:tcPr>
                    <a:solidFill>
                      <a:schemeClr val="accent3">
                        <a:lumMod val="40000"/>
                        <a:lumOff val="60000"/>
                      </a:schemeClr>
                    </a:solidFill>
                  </a:tcPr>
                </a:tc>
                <a:extLst>
                  <a:ext uri="{0D108BD9-81ED-4DB2-BD59-A6C34878D82A}">
                    <a16:rowId xmlns:a16="http://schemas.microsoft.com/office/drawing/2014/main" val="1457944494"/>
                  </a:ext>
                </a:extLst>
              </a:tr>
              <a:tr h="370840">
                <a:tc>
                  <a:txBody>
                    <a:bodyPr/>
                    <a:lstStyle/>
                    <a:p>
                      <a:r>
                        <a:rPr lang="sr-Latn-RS" dirty="0">
                          <a:latin typeface="Vidaloka" panose="020B0604020202020204" charset="0"/>
                        </a:rPr>
                        <a:t>Linear Regression</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0.431658</a:t>
                      </a:r>
                      <a:endParaRPr lang="en-US" dirty="0">
                        <a:latin typeface="Vidaloka" panose="020B0604020202020204" charset="0"/>
                      </a:endParaRPr>
                    </a:p>
                  </a:txBody>
                  <a:tcPr/>
                </a:tc>
                <a:tc>
                  <a:txBody>
                    <a:bodyPr/>
                    <a:lstStyle/>
                    <a:p>
                      <a:r>
                        <a:rPr lang="en-US" dirty="0">
                          <a:latin typeface="Vidaloka" panose="020B0604020202020204" charset="0"/>
                        </a:rPr>
                        <a:t>2.056206e+11</a:t>
                      </a:r>
                    </a:p>
                  </a:txBody>
                  <a:tcPr/>
                </a:tc>
                <a:tc>
                  <a:txBody>
                    <a:bodyPr/>
                    <a:lstStyle/>
                    <a:p>
                      <a:r>
                        <a:rPr lang="en-US" dirty="0">
                          <a:latin typeface="Vidaloka" panose="020B0604020202020204" charset="0"/>
                        </a:rPr>
                        <a:t>453454.056758</a:t>
                      </a:r>
                    </a:p>
                  </a:txBody>
                  <a:tcPr/>
                </a:tc>
                <a:extLst>
                  <a:ext uri="{0D108BD9-81ED-4DB2-BD59-A6C34878D82A}">
                    <a16:rowId xmlns:a16="http://schemas.microsoft.com/office/drawing/2014/main" val="2186253587"/>
                  </a:ext>
                </a:extLst>
              </a:tr>
              <a:tr h="370840">
                <a:tc>
                  <a:txBody>
                    <a:bodyPr/>
                    <a:lstStyle/>
                    <a:p>
                      <a:r>
                        <a:rPr lang="sr-Latn-RS" dirty="0">
                          <a:latin typeface="Vidaloka" panose="020B0604020202020204" charset="0"/>
                        </a:rPr>
                        <a:t>Ridge</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0.431626</a:t>
                      </a:r>
                      <a:endParaRPr lang="en-US" dirty="0">
                        <a:latin typeface="Vidaloka" panose="020B0604020202020204" charset="0"/>
                      </a:endParaRPr>
                    </a:p>
                  </a:txBody>
                  <a:tcPr/>
                </a:tc>
                <a:tc>
                  <a:txBody>
                    <a:bodyPr/>
                    <a:lstStyle/>
                    <a:p>
                      <a:r>
                        <a:rPr lang="en-US" dirty="0">
                          <a:latin typeface="Vidaloka" panose="020B0604020202020204" charset="0"/>
                        </a:rPr>
                        <a:t>2.056</a:t>
                      </a:r>
                      <a:r>
                        <a:rPr lang="sr-Latn-RS" dirty="0">
                          <a:latin typeface="Vidaloka" panose="020B0604020202020204" charset="0"/>
                        </a:rPr>
                        <a:t>322e+11</a:t>
                      </a:r>
                      <a:endParaRPr lang="en-US" dirty="0">
                        <a:latin typeface="Vidaloka" panose="020B0604020202020204" charset="0"/>
                      </a:endParaRPr>
                    </a:p>
                  </a:txBody>
                  <a:tcPr/>
                </a:tc>
                <a:tc>
                  <a:txBody>
                    <a:bodyPr/>
                    <a:lstStyle/>
                    <a:p>
                      <a:r>
                        <a:rPr lang="en-US" dirty="0">
                          <a:latin typeface="Vidaloka" panose="020B0604020202020204" charset="0"/>
                        </a:rPr>
                        <a:t>453466.867626</a:t>
                      </a:r>
                    </a:p>
                  </a:txBody>
                  <a:tcPr/>
                </a:tc>
                <a:extLst>
                  <a:ext uri="{0D108BD9-81ED-4DB2-BD59-A6C34878D82A}">
                    <a16:rowId xmlns:a16="http://schemas.microsoft.com/office/drawing/2014/main" val="2355448797"/>
                  </a:ext>
                </a:extLst>
              </a:tr>
              <a:tr h="370840">
                <a:tc>
                  <a:txBody>
                    <a:bodyPr/>
                    <a:lstStyle/>
                    <a:p>
                      <a:r>
                        <a:rPr lang="sr-Latn-RS" dirty="0">
                          <a:latin typeface="Vidaloka" panose="020B0604020202020204" charset="0"/>
                        </a:rPr>
                        <a:t>Lasso</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0.431658</a:t>
                      </a:r>
                      <a:endParaRPr lang="en-US" dirty="0">
                        <a:latin typeface="Vidaloka" panose="020B0604020202020204" charset="0"/>
                      </a:endParaRPr>
                    </a:p>
                  </a:txBody>
                  <a:tcPr/>
                </a:tc>
                <a:tc>
                  <a:txBody>
                    <a:bodyPr/>
                    <a:lstStyle/>
                    <a:p>
                      <a:r>
                        <a:rPr lang="en-US" dirty="0">
                          <a:latin typeface="Vidaloka" panose="020B0604020202020204" charset="0"/>
                        </a:rPr>
                        <a:t>2.056206e+11</a:t>
                      </a:r>
                    </a:p>
                  </a:txBody>
                  <a:tcPr/>
                </a:tc>
                <a:tc>
                  <a:txBody>
                    <a:bodyPr/>
                    <a:lstStyle/>
                    <a:p>
                      <a:r>
                        <a:rPr lang="en-US" dirty="0">
                          <a:latin typeface="Vidaloka" panose="020B0604020202020204" charset="0"/>
                        </a:rPr>
                        <a:t>453454.109499</a:t>
                      </a:r>
                    </a:p>
                  </a:txBody>
                  <a:tcPr/>
                </a:tc>
                <a:extLst>
                  <a:ext uri="{0D108BD9-81ED-4DB2-BD59-A6C34878D82A}">
                    <a16:rowId xmlns:a16="http://schemas.microsoft.com/office/drawing/2014/main" val="4221892875"/>
                  </a:ext>
                </a:extLst>
              </a:tr>
              <a:tr h="370840">
                <a:tc>
                  <a:txBody>
                    <a:bodyPr/>
                    <a:lstStyle/>
                    <a:p>
                      <a:r>
                        <a:rPr lang="sr-Latn-RS" dirty="0">
                          <a:latin typeface="Vidaloka" panose="020B0604020202020204" charset="0"/>
                        </a:rPr>
                        <a:t>Random Forest</a:t>
                      </a:r>
                      <a:endParaRPr lang="en-US" dirty="0">
                        <a:latin typeface="Vidaloka" panose="020B0604020202020204" charset="0"/>
                      </a:endParaRPr>
                    </a:p>
                  </a:txBody>
                  <a:tcPr>
                    <a:solidFill>
                      <a:schemeClr val="accent3">
                        <a:lumMod val="40000"/>
                        <a:lumOff val="60000"/>
                      </a:schemeClr>
                    </a:solidFill>
                  </a:tcPr>
                </a:tc>
                <a:tc>
                  <a:txBody>
                    <a:bodyPr/>
                    <a:lstStyle/>
                    <a:p>
                      <a:r>
                        <a:rPr lang="sr-Latn-RS" dirty="0">
                          <a:latin typeface="Vidaloka" panose="020B0604020202020204" charset="0"/>
                        </a:rPr>
                        <a:t>0.541997</a:t>
                      </a:r>
                      <a:endParaRPr lang="en-US" dirty="0">
                        <a:latin typeface="Vidaloka" panose="020B0604020202020204" charset="0"/>
                      </a:endParaRPr>
                    </a:p>
                  </a:txBody>
                  <a:tcPr/>
                </a:tc>
                <a:tc>
                  <a:txBody>
                    <a:bodyPr/>
                    <a:lstStyle/>
                    <a:p>
                      <a:r>
                        <a:rPr lang="en-US" dirty="0">
                          <a:latin typeface="Vidaloka" panose="020B0604020202020204" charset="0"/>
                        </a:rPr>
                        <a:t>1.657010e+11</a:t>
                      </a:r>
                    </a:p>
                  </a:txBody>
                  <a:tcPr/>
                </a:tc>
                <a:tc>
                  <a:txBody>
                    <a:bodyPr/>
                    <a:lstStyle/>
                    <a:p>
                      <a:r>
                        <a:rPr lang="en-US" dirty="0">
                          <a:latin typeface="Vidaloka" panose="020B0604020202020204" charset="0"/>
                        </a:rPr>
                        <a:t>407063.854148</a:t>
                      </a:r>
                    </a:p>
                  </a:txBody>
                  <a:tcPr/>
                </a:tc>
                <a:extLst>
                  <a:ext uri="{0D108BD9-81ED-4DB2-BD59-A6C34878D82A}">
                    <a16:rowId xmlns:a16="http://schemas.microsoft.com/office/drawing/2014/main" val="406482173"/>
                  </a:ext>
                </a:extLst>
              </a:tr>
            </a:tbl>
          </a:graphicData>
        </a:graphic>
      </p:graphicFrame>
    </p:spTree>
    <p:extLst>
      <p:ext uri="{BB962C8B-B14F-4D97-AF65-F5344CB8AC3E}">
        <p14:creationId xmlns:p14="http://schemas.microsoft.com/office/powerpoint/2010/main" val="1449577689"/>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8">
          <a:extLst>
            <a:ext uri="{FF2B5EF4-FFF2-40B4-BE49-F238E27FC236}">
              <a16:creationId xmlns:a16="http://schemas.microsoft.com/office/drawing/2014/main" id="{C44F6CDC-23C5-3014-5FE4-72ED20EAC77C}"/>
            </a:ext>
          </a:extLst>
        </p:cNvPr>
        <p:cNvGrpSpPr/>
        <p:nvPr/>
      </p:nvGrpSpPr>
      <p:grpSpPr>
        <a:xfrm>
          <a:off x="0" y="0"/>
          <a:ext cx="0" cy="0"/>
          <a:chOff x="0" y="0"/>
          <a:chExt cx="0" cy="0"/>
        </a:xfrm>
      </p:grpSpPr>
      <p:sp>
        <p:nvSpPr>
          <p:cNvPr id="560" name="Google Shape;560;p67">
            <a:extLst>
              <a:ext uri="{FF2B5EF4-FFF2-40B4-BE49-F238E27FC236}">
                <a16:creationId xmlns:a16="http://schemas.microsoft.com/office/drawing/2014/main" id="{3193AE63-6F50-A3F5-4641-660029E3BF96}"/>
              </a:ext>
            </a:extLst>
          </p:cNvPr>
          <p:cNvSpPr txBox="1">
            <a:spLocks noGrp="1"/>
          </p:cNvSpPr>
          <p:nvPr>
            <p:ph type="title"/>
          </p:nvPr>
        </p:nvSpPr>
        <p:spPr>
          <a:xfrm>
            <a:off x="953380" y="535184"/>
            <a:ext cx="6676143"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sr-Latn-RS" dirty="0"/>
              <a:t>Poređenje više regresionih modela</a:t>
            </a:r>
            <a:endParaRPr dirty="0"/>
          </a:p>
        </p:txBody>
      </p:sp>
      <p:pic>
        <p:nvPicPr>
          <p:cNvPr id="3" name="Picture 2">
            <a:extLst>
              <a:ext uri="{FF2B5EF4-FFF2-40B4-BE49-F238E27FC236}">
                <a16:creationId xmlns:a16="http://schemas.microsoft.com/office/drawing/2014/main" id="{2989CA8E-A626-1368-844C-C92E5B5F4817}"/>
              </a:ext>
            </a:extLst>
          </p:cNvPr>
          <p:cNvPicPr>
            <a:picLocks noChangeAspect="1"/>
          </p:cNvPicPr>
          <p:nvPr/>
        </p:nvPicPr>
        <p:blipFill>
          <a:blip r:embed="rId3"/>
          <a:stretch>
            <a:fillRect/>
          </a:stretch>
        </p:blipFill>
        <p:spPr>
          <a:xfrm>
            <a:off x="1073314" y="1643062"/>
            <a:ext cx="3187221" cy="2461789"/>
          </a:xfrm>
          <a:prstGeom prst="rect">
            <a:avLst/>
          </a:prstGeom>
        </p:spPr>
      </p:pic>
      <p:pic>
        <p:nvPicPr>
          <p:cNvPr id="5" name="Picture 4">
            <a:extLst>
              <a:ext uri="{FF2B5EF4-FFF2-40B4-BE49-F238E27FC236}">
                <a16:creationId xmlns:a16="http://schemas.microsoft.com/office/drawing/2014/main" id="{436BD0AC-86ED-4F47-13CA-B59174BA2192}"/>
              </a:ext>
            </a:extLst>
          </p:cNvPr>
          <p:cNvPicPr>
            <a:picLocks noChangeAspect="1"/>
          </p:cNvPicPr>
          <p:nvPr/>
        </p:nvPicPr>
        <p:blipFill>
          <a:blip r:embed="rId4"/>
          <a:stretch>
            <a:fillRect/>
          </a:stretch>
        </p:blipFill>
        <p:spPr>
          <a:xfrm>
            <a:off x="4883467" y="1643061"/>
            <a:ext cx="3344670" cy="2461789"/>
          </a:xfrm>
          <a:prstGeom prst="rect">
            <a:avLst/>
          </a:prstGeom>
        </p:spPr>
      </p:pic>
      <p:sp>
        <p:nvSpPr>
          <p:cNvPr id="6" name="Google Shape;602;p72">
            <a:extLst>
              <a:ext uri="{FF2B5EF4-FFF2-40B4-BE49-F238E27FC236}">
                <a16:creationId xmlns:a16="http://schemas.microsoft.com/office/drawing/2014/main" id="{6CEE3B7A-646F-F41C-FA32-DFF3F11C7E5C}"/>
              </a:ext>
            </a:extLst>
          </p:cNvPr>
          <p:cNvSpPr txBox="1"/>
          <p:nvPr/>
        </p:nvSpPr>
        <p:spPr>
          <a:xfrm>
            <a:off x="1070191" y="1286061"/>
            <a:ext cx="342324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Poređenje – R</a:t>
            </a:r>
            <a:r>
              <a:rPr lang="sr-Latn-RS" baseline="30000" dirty="0">
                <a:solidFill>
                  <a:schemeClr val="dk1"/>
                </a:solidFill>
                <a:latin typeface="Vidaloka"/>
                <a:ea typeface="Vidaloka"/>
                <a:cs typeface="Vidaloka"/>
                <a:sym typeface="Vidaloka"/>
              </a:rPr>
              <a:t>2</a:t>
            </a:r>
            <a:endParaRPr baseline="30000" dirty="0">
              <a:solidFill>
                <a:schemeClr val="dk1"/>
              </a:solidFill>
              <a:latin typeface="Vidaloka"/>
              <a:ea typeface="Vidaloka"/>
              <a:cs typeface="Vidaloka"/>
              <a:sym typeface="Vidaloka"/>
            </a:endParaRPr>
          </a:p>
        </p:txBody>
      </p:sp>
      <p:sp>
        <p:nvSpPr>
          <p:cNvPr id="8" name="Google Shape;602;p72">
            <a:extLst>
              <a:ext uri="{FF2B5EF4-FFF2-40B4-BE49-F238E27FC236}">
                <a16:creationId xmlns:a16="http://schemas.microsoft.com/office/drawing/2014/main" id="{A4C827CF-59C0-61A3-F93C-84F685082697}"/>
              </a:ext>
            </a:extLst>
          </p:cNvPr>
          <p:cNvSpPr txBox="1"/>
          <p:nvPr/>
        </p:nvSpPr>
        <p:spPr>
          <a:xfrm>
            <a:off x="4883467" y="1286061"/>
            <a:ext cx="3423240" cy="357000"/>
          </a:xfrm>
          <a:prstGeom prst="rect">
            <a:avLst/>
          </a:prstGeom>
          <a:noFill/>
          <a:ln>
            <a:noFill/>
          </a:ln>
        </p:spPr>
        <p:txBody>
          <a:bodyPr spcFirstLastPara="1" wrap="square" lIns="91425" tIns="91425" rIns="91425" bIns="91425" anchor="ctr" anchorCtr="0">
            <a:noAutofit/>
          </a:bodyPr>
          <a:lstStyle/>
          <a:p>
            <a:pPr lvl="0" algn="ctr"/>
            <a:r>
              <a:rPr lang="sr-Latn-RS" dirty="0">
                <a:solidFill>
                  <a:schemeClr val="dk1"/>
                </a:solidFill>
                <a:latin typeface="Vidaloka"/>
                <a:ea typeface="Vidaloka"/>
                <a:cs typeface="Vidaloka"/>
                <a:sym typeface="Vidaloka"/>
              </a:rPr>
              <a:t>Poređenje - RMSE</a:t>
            </a:r>
            <a:endParaRPr dirty="0">
              <a:solidFill>
                <a:schemeClr val="dk1"/>
              </a:solidFill>
              <a:latin typeface="Vidaloka"/>
              <a:ea typeface="Vidaloka"/>
              <a:cs typeface="Vidaloka"/>
              <a:sym typeface="Vidaloka"/>
            </a:endParaRPr>
          </a:p>
        </p:txBody>
      </p:sp>
    </p:spTree>
    <p:extLst>
      <p:ext uri="{BB962C8B-B14F-4D97-AF65-F5344CB8AC3E}">
        <p14:creationId xmlns:p14="http://schemas.microsoft.com/office/powerpoint/2010/main" val="2087882366"/>
      </p:ext>
    </p:extLst>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title"/>
          </p:nvPr>
        </p:nvSpPr>
        <p:spPr>
          <a:xfrm>
            <a:off x="728474" y="1499669"/>
            <a:ext cx="4943663" cy="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 </a:t>
            </a:r>
            <a:r>
              <a:rPr lang="sr-Latn-RS" i="1" dirty="0"/>
              <a:t>Važnost poređenja modela</a:t>
            </a:r>
            <a:endParaRPr i="1" dirty="0"/>
          </a:p>
        </p:txBody>
      </p:sp>
      <p:sp>
        <p:nvSpPr>
          <p:cNvPr id="547" name="Google Shape;547;p65"/>
          <p:cNvSpPr txBox="1">
            <a:spLocks noGrp="1"/>
          </p:cNvSpPr>
          <p:nvPr>
            <p:ph type="subTitle" idx="1"/>
          </p:nvPr>
        </p:nvSpPr>
        <p:spPr>
          <a:xfrm>
            <a:off x="1900049" y="2288823"/>
            <a:ext cx="6772463" cy="1374479"/>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sr-Latn-RS" i="1" dirty="0"/>
              <a:t>	Modele poredimo kako bismo izabrali onaj koji daje najbolji balans između tačnosti i interpretabilnosti. Poređenjem više regresionih modela možemo izabrati najbolji model za dati problem.</a:t>
            </a:r>
            <a:endParaRPr i="1" dirty="0"/>
          </a:p>
        </p:txBody>
      </p:sp>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120"/>
          <p:cNvSpPr txBox="1">
            <a:spLocks noGrp="1"/>
          </p:cNvSpPr>
          <p:nvPr>
            <p:ph type="subTitle" idx="1"/>
          </p:nvPr>
        </p:nvSpPr>
        <p:spPr>
          <a:xfrm>
            <a:off x="713225" y="1453525"/>
            <a:ext cx="5358963" cy="28890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Font typeface="Merriweather"/>
              <a:buChar char="●"/>
            </a:pPr>
            <a:r>
              <a:rPr lang="sr-Latn-RS" dirty="0"/>
              <a:t>Istražen je problem predikcije cene automobila na osnovu tehničkih i eksploatacionih karakteristika</a:t>
            </a:r>
            <a:endParaRPr dirty="0"/>
          </a:p>
          <a:p>
            <a:pPr marL="457200" lvl="0" indent="-317500" algn="l" rtl="0">
              <a:spcBef>
                <a:spcPts val="1000"/>
              </a:spcBef>
              <a:spcAft>
                <a:spcPts val="0"/>
              </a:spcAft>
              <a:buSzPts val="1400"/>
              <a:buFont typeface="Merriweather"/>
              <a:buChar char="●"/>
            </a:pPr>
            <a:r>
              <a:rPr lang="sr-Latn-RS" dirty="0"/>
              <a:t>Sprovedena je detaljna eksplorativna analiza i adekvatno pretprocesiranje podataka</a:t>
            </a:r>
            <a:endParaRPr dirty="0"/>
          </a:p>
          <a:p>
            <a:pPr marL="457200" lvl="0" indent="-317500" algn="l" rtl="0">
              <a:spcBef>
                <a:spcPts val="1000"/>
              </a:spcBef>
              <a:spcAft>
                <a:spcPts val="0"/>
              </a:spcAft>
              <a:buSzPts val="1400"/>
              <a:buFont typeface="Merriweather"/>
              <a:buChar char="●"/>
            </a:pPr>
            <a:r>
              <a:rPr lang="sr-Latn-RS" dirty="0"/>
              <a:t>Višestruka linearna regresija pokazala se kao stabilan i interpretabilan bazni model</a:t>
            </a:r>
          </a:p>
          <a:p>
            <a:pPr lvl="0" indent="-317500" algn="l">
              <a:spcBef>
                <a:spcPts val="1000"/>
              </a:spcBef>
              <a:buFont typeface="Merriweather"/>
              <a:buChar char="●"/>
            </a:pPr>
            <a:r>
              <a:rPr lang="sr-Latn-RS" dirty="0"/>
              <a:t>Ridge I Lasso nisu značajno poboljšali rezultate</a:t>
            </a:r>
            <a:endParaRPr b="1" dirty="0"/>
          </a:p>
          <a:p>
            <a:pPr marL="457200" lvl="0" indent="-317500" algn="l" rtl="0">
              <a:spcBef>
                <a:spcPts val="1000"/>
              </a:spcBef>
              <a:spcAft>
                <a:spcPts val="0"/>
              </a:spcAft>
              <a:buSzPts val="1400"/>
              <a:buFont typeface="Merriweather"/>
              <a:buChar char="●"/>
            </a:pPr>
            <a:r>
              <a:rPr lang="sr-Latn-RS" dirty="0"/>
              <a:t>Random Forest je ostvario najbolje performanse, što ukazuje na prisustvo nelinearnih odnosa u podacima</a:t>
            </a:r>
          </a:p>
        </p:txBody>
      </p:sp>
      <p:sp>
        <p:nvSpPr>
          <p:cNvPr id="1537" name="Google Shape;1537;p120"/>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Zaključak</a:t>
            </a:r>
            <a:endParaRPr dirty="0"/>
          </a:p>
        </p:txBody>
      </p:sp>
    </p:spTree>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35">
          <a:extLst>
            <a:ext uri="{FF2B5EF4-FFF2-40B4-BE49-F238E27FC236}">
              <a16:creationId xmlns:a16="http://schemas.microsoft.com/office/drawing/2014/main" id="{DB9EED8A-98FB-6B06-6EC7-455FB0823B41}"/>
            </a:ext>
          </a:extLst>
        </p:cNvPr>
        <p:cNvGrpSpPr/>
        <p:nvPr/>
      </p:nvGrpSpPr>
      <p:grpSpPr>
        <a:xfrm>
          <a:off x="0" y="0"/>
          <a:ext cx="0" cy="0"/>
          <a:chOff x="0" y="0"/>
          <a:chExt cx="0" cy="0"/>
        </a:xfrm>
      </p:grpSpPr>
      <p:sp>
        <p:nvSpPr>
          <p:cNvPr id="1537" name="Google Shape;1537;p120">
            <a:extLst>
              <a:ext uri="{FF2B5EF4-FFF2-40B4-BE49-F238E27FC236}">
                <a16:creationId xmlns:a16="http://schemas.microsoft.com/office/drawing/2014/main" id="{416D7D4B-11B5-9029-0531-50D5103B8850}"/>
              </a:ext>
            </a:extLst>
          </p:cNvPr>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dirty="0"/>
              <a:t>Literatura</a:t>
            </a:r>
            <a:endParaRPr dirty="0"/>
          </a:p>
        </p:txBody>
      </p:sp>
      <p:sp>
        <p:nvSpPr>
          <p:cNvPr id="3" name="Subtitle 2">
            <a:extLst>
              <a:ext uri="{FF2B5EF4-FFF2-40B4-BE49-F238E27FC236}">
                <a16:creationId xmlns:a16="http://schemas.microsoft.com/office/drawing/2014/main" id="{41ED4C35-8F15-9206-F7A9-0F9240AB3C4B}"/>
              </a:ext>
            </a:extLst>
          </p:cNvPr>
          <p:cNvSpPr>
            <a:spLocks noGrp="1"/>
          </p:cNvSpPr>
          <p:nvPr>
            <p:ph type="subTitle" idx="1"/>
          </p:nvPr>
        </p:nvSpPr>
        <p:spPr>
          <a:xfrm>
            <a:off x="713223" y="1260644"/>
            <a:ext cx="5959039" cy="1046787"/>
          </a:xfrm>
        </p:spPr>
        <p:txBody>
          <a:bodyPr/>
          <a:lstStyle/>
          <a:p>
            <a:pPr algn="l">
              <a:buFontTx/>
              <a:buChar char="-"/>
            </a:pPr>
            <a:r>
              <a:rPr lang="en-US" dirty="0"/>
              <a:t>http</a:t>
            </a:r>
            <a:r>
              <a:rPr lang="sr-Latn-RS" dirty="0"/>
              <a:t>s</a:t>
            </a:r>
            <a:r>
              <a:rPr lang="en-US" dirty="0"/>
              <a:t>://www.kaggle.com/data</a:t>
            </a:r>
            <a:r>
              <a:rPr lang="sr-Latn-RS" dirty="0"/>
              <a:t>s</a:t>
            </a:r>
            <a:r>
              <a:rPr lang="en-US" dirty="0"/>
              <a:t>et</a:t>
            </a:r>
            <a:r>
              <a:rPr lang="sr-Latn-RS" dirty="0"/>
              <a:t>s</a:t>
            </a:r>
          </a:p>
          <a:p>
            <a:pPr algn="l">
              <a:buFontTx/>
              <a:buChar char="-"/>
            </a:pPr>
            <a:r>
              <a:rPr lang="en-US" dirty="0"/>
              <a:t>http</a:t>
            </a:r>
            <a:r>
              <a:rPr lang="sr-Latn-RS" dirty="0"/>
              <a:t>s</a:t>
            </a:r>
            <a:r>
              <a:rPr lang="en-US" dirty="0"/>
              <a:t>://</a:t>
            </a:r>
            <a:r>
              <a:rPr lang="sr-Latn-RS" dirty="0"/>
              <a:t>s</a:t>
            </a:r>
            <a:r>
              <a:rPr lang="en-US" dirty="0"/>
              <a:t>cikitlearn.org/</a:t>
            </a:r>
            <a:r>
              <a:rPr lang="sr-Latn-RS" dirty="0"/>
              <a:t>s</a:t>
            </a:r>
            <a:r>
              <a:rPr lang="en-US" dirty="0"/>
              <a:t>table/module</a:t>
            </a:r>
            <a:r>
              <a:rPr lang="sr-Latn-RS" dirty="0"/>
              <a:t>s</a:t>
            </a:r>
            <a:r>
              <a:rPr lang="en-US" dirty="0"/>
              <a:t>/linear_model.html </a:t>
            </a:r>
          </a:p>
        </p:txBody>
      </p:sp>
    </p:spTree>
    <p:extLst>
      <p:ext uri="{BB962C8B-B14F-4D97-AF65-F5344CB8AC3E}">
        <p14:creationId xmlns:p14="http://schemas.microsoft.com/office/powerpoint/2010/main" val="3789512885"/>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35">
          <a:extLst>
            <a:ext uri="{FF2B5EF4-FFF2-40B4-BE49-F238E27FC236}">
              <a16:creationId xmlns:a16="http://schemas.microsoft.com/office/drawing/2014/main" id="{DC860CD6-F960-0A39-04AB-8CDCC66047FB}"/>
            </a:ext>
          </a:extLst>
        </p:cNvPr>
        <p:cNvGrpSpPr/>
        <p:nvPr/>
      </p:nvGrpSpPr>
      <p:grpSpPr>
        <a:xfrm>
          <a:off x="0" y="0"/>
          <a:ext cx="0" cy="0"/>
          <a:chOff x="0" y="0"/>
          <a:chExt cx="0" cy="0"/>
        </a:xfrm>
      </p:grpSpPr>
      <p:sp>
        <p:nvSpPr>
          <p:cNvPr id="1537" name="Google Shape;1537;p120">
            <a:extLst>
              <a:ext uri="{FF2B5EF4-FFF2-40B4-BE49-F238E27FC236}">
                <a16:creationId xmlns:a16="http://schemas.microsoft.com/office/drawing/2014/main" id="{EFA2BCF5-C004-F10B-8726-DF088B8C1DD7}"/>
              </a:ext>
            </a:extLst>
          </p:cNvPr>
          <p:cNvSpPr txBox="1">
            <a:spLocks noGrp="1"/>
          </p:cNvSpPr>
          <p:nvPr>
            <p:ph type="title"/>
          </p:nvPr>
        </p:nvSpPr>
        <p:spPr>
          <a:xfrm>
            <a:off x="2078831" y="1999050"/>
            <a:ext cx="585886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sr-Latn-RS" sz="5400" dirty="0"/>
              <a:t>Hvala na pažnji</a:t>
            </a:r>
            <a:endParaRPr sz="5400" dirty="0"/>
          </a:p>
        </p:txBody>
      </p:sp>
    </p:spTree>
    <p:extLst>
      <p:ext uri="{BB962C8B-B14F-4D97-AF65-F5344CB8AC3E}">
        <p14:creationId xmlns:p14="http://schemas.microsoft.com/office/powerpoint/2010/main" val="3922824030"/>
      </p:ext>
    </p:extLst>
  </p:cSld>
  <p:clrMapOvr>
    <a:masterClrMapping/>
  </p:clrMapOvr>
  <p:transition spd="slow">
    <p:cover/>
  </p:transition>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933</Words>
  <Application>Microsoft Office PowerPoint</Application>
  <PresentationFormat>On-screen Show (16:9)</PresentationFormat>
  <Paragraphs>184</Paragraphs>
  <Slides>36</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Crimson Text</vt:lpstr>
      <vt:lpstr>Merriweather Light</vt:lpstr>
      <vt:lpstr>Lato</vt:lpstr>
      <vt:lpstr>Vidaloka</vt:lpstr>
      <vt:lpstr>Montserrat</vt:lpstr>
      <vt:lpstr>Arial</vt:lpstr>
      <vt:lpstr>Merriweather</vt:lpstr>
      <vt:lpstr>Minimalist Business Slides XL by Slidesgo</vt:lpstr>
      <vt:lpstr>Predikcija cene automobila primenom višestruke linearne regresije</vt:lpstr>
      <vt:lpstr>Uvod</vt:lpstr>
      <vt:lpstr>Definicija i cilj problema</vt:lpstr>
      <vt:lpstr>02</vt:lpstr>
      <vt:lpstr>Opis i struktura podataka</vt:lpstr>
      <vt:lpstr>Opis i struktura podataka</vt:lpstr>
      <vt:lpstr>Distribucija numeričkih atributa </vt:lpstr>
      <vt:lpstr>Distribucija numeričkih atributa </vt:lpstr>
      <vt:lpstr>Važnost distribucije podataka</vt:lpstr>
      <vt:lpstr>Detekcija ekstremnih vrednosti</vt:lpstr>
      <vt:lpstr>Detekcija ekstremnih vrednosti</vt:lpstr>
      <vt:lpstr>-Važnost detekcije ekstremnih vrednosti</vt:lpstr>
      <vt:lpstr>Analiza korelacija</vt:lpstr>
      <vt:lpstr>Odnos kategorijskih atributa sa cenom</vt:lpstr>
      <vt:lpstr>Odnos kategorijskih atributa sa cenom</vt:lpstr>
      <vt:lpstr>Eksplorativna analiza podataka</vt:lpstr>
      <vt:lpstr>Provera linearnosti sa ciljnom promenljivom</vt:lpstr>
      <vt:lpstr>Pretprocesiranje podatka</vt:lpstr>
      <vt:lpstr>Pretprocesiranje podatka</vt:lpstr>
      <vt:lpstr>-Važnost pretprocesiranja podataka</vt:lpstr>
      <vt:lpstr>Distribucija reziduala</vt:lpstr>
      <vt:lpstr>Višestruka linearna regresija</vt:lpstr>
      <vt:lpstr>Višestruka linearna regresija</vt:lpstr>
      <vt:lpstr>Višestruka linearna regresija – rezultati i koeficijenti</vt:lpstr>
      <vt:lpstr>Poređenje više regresionih modela</vt:lpstr>
      <vt:lpstr>Poređenje više regresionih modela</vt:lpstr>
      <vt:lpstr>Koeficijenti – Linearna regresija</vt:lpstr>
      <vt:lpstr>Koeficijenti – Ridge regresija</vt:lpstr>
      <vt:lpstr>Koeficijenti – Lasso regresija</vt:lpstr>
      <vt:lpstr>Importansa – Random Forest regresija</vt:lpstr>
      <vt:lpstr>Poređenje više regresionih modela</vt:lpstr>
      <vt:lpstr>Poređenje više regresionih modela</vt:lpstr>
      <vt:lpstr>- Važnost poređenja modela</vt:lpstr>
      <vt:lpstr>Zaključak</vt:lpstr>
      <vt:lpstr>Literatura</vt:lpstr>
      <vt:lpstr>Hvala na pažnji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Igor</dc:creator>
  <cp:lastModifiedBy>PC</cp:lastModifiedBy>
  <cp:revision>14</cp:revision>
  <dcterms:modified xsi:type="dcterms:W3CDTF">2026-02-27T09:47:12Z</dcterms:modified>
</cp:coreProperties>
</file>